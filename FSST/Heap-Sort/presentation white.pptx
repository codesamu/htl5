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6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86"/>
    <p:restoredTop sz="94731"/>
  </p:normalViewPr>
  <p:slideViewPr>
    <p:cSldViewPr snapToGrid="0">
      <p:cViewPr varScale="1">
        <p:scale>
          <a:sx n="145" d="100"/>
          <a:sy n="145" d="100"/>
        </p:scale>
        <p:origin x="124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42" y="97104"/>
            <a:ext cx="4134357" cy="3331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492488"/>
            <a:ext cx="3349751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73880" y="0"/>
            <a:ext cx="78181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6644" y="6338703"/>
            <a:ext cx="2196699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383669" y="6338703"/>
            <a:ext cx="1392578" cy="365125"/>
          </a:xfrm>
        </p:spPr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6247" y="6342301"/>
            <a:ext cx="429207" cy="365125"/>
          </a:xfrm>
        </p:spPr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5033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09862"/>
            <a:ext cx="10963656" cy="4513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354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88841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88841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7424272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343955"/>
            <a:ext cx="2100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67853" y="6343955"/>
            <a:ext cx="14751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066" y="6343955"/>
            <a:ext cx="429207" cy="365125"/>
          </a:xfrm>
        </p:spPr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282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1143000"/>
            <a:ext cx="8683753" cy="309514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498848"/>
            <a:ext cx="688145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6343955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6343955"/>
            <a:ext cx="2875064" cy="365125"/>
          </a:xfrm>
        </p:spPr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6335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58" y="1869103"/>
            <a:ext cx="9337042" cy="4906929"/>
          </a:xfrm>
        </p:spPr>
        <p:txBody>
          <a:bodyPr>
            <a:normAutofit/>
          </a:bodyPr>
          <a:lstStyle>
            <a:lvl1pPr>
              <a:defRPr sz="7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4089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11" y="105196"/>
            <a:ext cx="9023561" cy="2113392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9744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1011" y="73742"/>
            <a:ext cx="6863496" cy="2220726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4565591" cy="68580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726267"/>
            <a:ext cx="5916507" cy="343678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000" y="6343955"/>
            <a:ext cx="29854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121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1389134"/>
            <a:ext cx="6045390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436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389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011" y="612648"/>
            <a:ext cx="6426389" cy="1143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368" y="1978488"/>
            <a:ext cx="6418935" cy="4285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010" y="6343955"/>
            <a:ext cx="3364903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019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474177"/>
            <a:ext cx="6950232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627632"/>
            <a:ext cx="6950232" cy="46862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8" y="6343955"/>
            <a:ext cx="342290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7242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75488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627632"/>
            <a:ext cx="6858000" cy="4535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046675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20623"/>
            <a:ext cx="4494189" cy="13258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1975104"/>
            <a:ext cx="4494063" cy="41569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776" y="6343955"/>
            <a:ext cx="2098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3651" y="6343955"/>
            <a:ext cx="1573037" cy="365125"/>
          </a:xfrm>
        </p:spPr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6658" y="6343955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25938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429768"/>
            <a:ext cx="3657600" cy="166722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3" y="2315569"/>
            <a:ext cx="3657600" cy="381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7" y="6343955"/>
            <a:ext cx="1637337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3447" y="6343955"/>
            <a:ext cx="949766" cy="365125"/>
          </a:xfrm>
        </p:spPr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653213" y="6343955"/>
            <a:ext cx="429207" cy="365125"/>
          </a:xfrm>
        </p:spPr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95088" y="0"/>
            <a:ext cx="729691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5658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929554"/>
            <a:ext cx="2699254" cy="1858941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343955"/>
            <a:ext cx="140446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19708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162318"/>
            <a:ext cx="3044954" cy="1892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4162318"/>
            <a:ext cx="7460029" cy="20915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93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59341"/>
            <a:ext cx="10969753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12398"/>
            <a:ext cx="4637269" cy="42076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7221" y="1912938"/>
            <a:ext cx="5741992" cy="422433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7228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06802"/>
            <a:ext cx="4672584" cy="126948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0468" y="2173850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3" y="732155"/>
            <a:ext cx="5676838" cy="54053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551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6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484094"/>
            <a:ext cx="10543032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9991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264" y="42335"/>
            <a:ext cx="11517039" cy="61722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1"/>
            </a:lvl1pPr>
            <a:lvl2pPr marL="228600" indent="0">
              <a:lnSpc>
                <a:spcPct val="90000"/>
              </a:lnSpc>
              <a:buNone/>
              <a:defRPr sz="7200" b="1"/>
            </a:lvl2pPr>
            <a:lvl3pPr marL="457200" indent="0">
              <a:lnSpc>
                <a:spcPct val="90000"/>
              </a:lnSpc>
              <a:buNone/>
              <a:defRPr sz="66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54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2472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9200"/>
            <a:ext cx="9198864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3324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09561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741152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825625"/>
            <a:ext cx="507492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8563" y="1825625"/>
            <a:ext cx="5075237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6304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12064"/>
            <a:ext cx="10745788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387600"/>
            <a:ext cx="5075238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0468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387600"/>
            <a:ext cx="5075556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8641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963656" cy="96926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331412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41424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" y="89808"/>
            <a:ext cx="11462003" cy="2514600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118757"/>
            <a:ext cx="10963528" cy="2620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5751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1324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486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4649"/>
            <a:ext cx="10963655" cy="9723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09862"/>
            <a:ext cx="10963656" cy="451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0C4AEE9A-CAF4-434E-8414-82CBDC6C785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A0FCE027-F6A6-4B49-AAE6-1128C84D0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15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19" r:id="rId13"/>
    <p:sldLayoutId id="2147483720" r:id="rId14"/>
    <p:sldLayoutId id="2147483721" r:id="rId15"/>
    <p:sldLayoutId id="2147483722" r:id="rId16"/>
    <p:sldLayoutId id="2147483723" r:id="rId17"/>
    <p:sldLayoutId id="2147483724" r:id="rId18"/>
    <p:sldLayoutId id="2147483725" r:id="rId19"/>
    <p:sldLayoutId id="2147483726" r:id="rId20"/>
    <p:sldLayoutId id="2147483727" r:id="rId21"/>
    <p:sldLayoutId id="2147483728" r:id="rId22"/>
    <p:sldLayoutId id="2147483729" r:id="rId23"/>
    <p:sldLayoutId id="2147483730" r:id="rId24"/>
    <p:sldLayoutId id="2147483731" r:id="rId25"/>
    <p:sldLayoutId id="2147483732" r:id="rId26"/>
    <p:sldLayoutId id="2147483733" r:id="rId27"/>
    <p:sldLayoutId id="2147483734" r:id="rId28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 spc="-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DD202-5A6B-98B3-2C4F-0D532415D6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30837" y="2256090"/>
            <a:ext cx="7528845" cy="1378001"/>
          </a:xfrm>
        </p:spPr>
        <p:txBody>
          <a:bodyPr>
            <a:normAutofit/>
          </a:bodyPr>
          <a:lstStyle/>
          <a:p>
            <a:pPr algn="ctr"/>
            <a:r>
              <a:rPr lang="en-US" sz="6000" dirty="0">
                <a:latin typeface="AKIRAEXPANDED-SUPERBOLD" panose="02000800000000000000" pitchFamily="2" charset="0"/>
              </a:rPr>
              <a:t>Heap-Sort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71405B-950B-4C4F-91DE-E78A1A6CBE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79822" y="3634091"/>
            <a:ext cx="3830874" cy="1496616"/>
          </a:xfrm>
        </p:spPr>
        <p:txBody>
          <a:bodyPr/>
          <a:lstStyle/>
          <a:p>
            <a:pPr algn="ctr"/>
            <a:r>
              <a:rPr lang="en-US" dirty="0"/>
              <a:t>Samuel Fronthaler</a:t>
            </a:r>
          </a:p>
        </p:txBody>
      </p:sp>
    </p:spTree>
    <p:extLst>
      <p:ext uri="{BB962C8B-B14F-4D97-AF65-F5344CB8AC3E}">
        <p14:creationId xmlns:p14="http://schemas.microsoft.com/office/powerpoint/2010/main" val="17477160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62AFD7F-573C-CBDB-9EA7-0CF466A3B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124" y="851138"/>
            <a:ext cx="5658468" cy="714639"/>
          </a:xfrm>
        </p:spPr>
        <p:txBody>
          <a:bodyPr>
            <a:normAutofit/>
          </a:bodyPr>
          <a:lstStyle/>
          <a:p>
            <a:r>
              <a:rPr lang="en-US" sz="4000" dirty="0" err="1">
                <a:latin typeface="AKIRAEXPANDED-SUPERBOLD" panose="02000800000000000000" pitchFamily="2" charset="0"/>
              </a:rPr>
              <a:t>Grundlagen</a:t>
            </a:r>
            <a:endParaRPr lang="en-US" sz="4000" dirty="0">
              <a:latin typeface="AKIRAEXPANDED-SUPERBOLD" panose="02000800000000000000" pitchFamily="2" charset="0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BB64A36-2885-F70F-6467-39EE85307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1124" y="1912913"/>
            <a:ext cx="10996851" cy="4945087"/>
          </a:xfrm>
        </p:spPr>
        <p:txBody>
          <a:bodyPr/>
          <a:lstStyle/>
          <a:p>
            <a:r>
              <a:rPr lang="en-US" dirty="0" err="1"/>
              <a:t>Verwendet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spezielle</a:t>
            </a:r>
            <a:r>
              <a:rPr lang="en-US" dirty="0"/>
              <a:t> </a:t>
            </a:r>
            <a:r>
              <a:rPr lang="en-US" dirty="0" err="1"/>
              <a:t>Datenstruktur</a:t>
            </a:r>
            <a:r>
              <a:rPr lang="en-US" dirty="0"/>
              <a:t> </a:t>
            </a:r>
            <a:r>
              <a:rPr lang="en-US" dirty="0" err="1"/>
              <a:t>namens</a:t>
            </a:r>
            <a:r>
              <a:rPr lang="en-US" dirty="0"/>
              <a:t> ”Heap”. </a:t>
            </a:r>
          </a:p>
          <a:p>
            <a:r>
              <a:rPr lang="en-US" dirty="0" err="1"/>
              <a:t>Sortiert</a:t>
            </a:r>
            <a:r>
              <a:rPr lang="en-US" dirty="0"/>
              <a:t>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Liste</a:t>
            </a:r>
            <a:r>
              <a:rPr lang="en-US" dirty="0"/>
              <a:t>, </a:t>
            </a:r>
            <a:r>
              <a:rPr lang="en-US" dirty="0" err="1"/>
              <a:t>indem</a:t>
            </a:r>
            <a:r>
              <a:rPr lang="en-US" dirty="0"/>
              <a:t> er </a:t>
            </a:r>
            <a:r>
              <a:rPr lang="en-US" dirty="0" err="1"/>
              <a:t>einen</a:t>
            </a:r>
            <a:r>
              <a:rPr lang="en-US" dirty="0"/>
              <a:t> Heap </a:t>
            </a:r>
            <a:r>
              <a:rPr lang="en-US" dirty="0" err="1"/>
              <a:t>aufbaut</a:t>
            </a:r>
            <a:r>
              <a:rPr lang="en-US" dirty="0"/>
              <a:t> und </a:t>
            </a:r>
            <a:r>
              <a:rPr lang="en-US" dirty="0" err="1"/>
              <a:t>anschließend</a:t>
            </a:r>
            <a:r>
              <a:rPr lang="en-US" dirty="0"/>
              <a:t> immer </a:t>
            </a:r>
            <a:r>
              <a:rPr lang="en-US" dirty="0" err="1"/>
              <a:t>wieder</a:t>
            </a:r>
            <a:r>
              <a:rPr lang="en-US" dirty="0"/>
              <a:t> das </a:t>
            </a:r>
            <a:r>
              <a:rPr lang="en-US" dirty="0" err="1"/>
              <a:t>größte</a:t>
            </a:r>
            <a:r>
              <a:rPr lang="en-US" dirty="0"/>
              <a:t> </a:t>
            </a:r>
            <a:r>
              <a:rPr lang="en-US" dirty="0" err="1"/>
              <a:t>bzw</a:t>
            </a:r>
            <a:r>
              <a:rPr lang="en-US" dirty="0"/>
              <a:t>. </a:t>
            </a:r>
            <a:r>
              <a:rPr lang="en-US" dirty="0" err="1"/>
              <a:t>kleinste</a:t>
            </a:r>
            <a:r>
              <a:rPr lang="en-US" dirty="0"/>
              <a:t> Element an die </a:t>
            </a:r>
            <a:r>
              <a:rPr lang="en-US" dirty="0" err="1"/>
              <a:t>richtige</a:t>
            </a:r>
            <a:r>
              <a:rPr lang="en-US" dirty="0"/>
              <a:t> Position </a:t>
            </a:r>
            <a:r>
              <a:rPr lang="en-US" dirty="0" err="1"/>
              <a:t>verschiebt</a:t>
            </a:r>
            <a:r>
              <a:rPr lang="en-US" dirty="0"/>
              <a:t>.</a:t>
            </a:r>
          </a:p>
          <a:p>
            <a:r>
              <a:rPr lang="en-US" b="1" dirty="0"/>
              <a:t>- </a:t>
            </a:r>
            <a:r>
              <a:rPr lang="en-US" b="1" dirty="0" err="1"/>
              <a:t>Laufzeit</a:t>
            </a:r>
            <a:r>
              <a:rPr lang="en-US" b="1" dirty="0"/>
              <a:t>: O(n log n)</a:t>
            </a:r>
          </a:p>
          <a:p>
            <a:r>
              <a:rPr lang="en-US" b="1" dirty="0"/>
              <a:t>- Speicher: O(1) In Place</a:t>
            </a:r>
          </a:p>
          <a:p>
            <a:r>
              <a:rPr lang="en-US" b="1" dirty="0"/>
              <a:t>- </a:t>
            </a:r>
            <a:r>
              <a:rPr lang="en-US" b="1" dirty="0" err="1"/>
              <a:t>Instabil</a:t>
            </a:r>
            <a:endParaRPr lang="en-US" b="1" dirty="0"/>
          </a:p>
          <a:p>
            <a:r>
              <a:rPr lang="en-US" dirty="0"/>
              <a:t>In 1964 von J. W. J. Williams </a:t>
            </a:r>
            <a:r>
              <a:rPr lang="en-US" dirty="0" err="1"/>
              <a:t>entwickelt</a:t>
            </a:r>
            <a:endParaRPr lang="en-US" dirty="0"/>
          </a:p>
          <a:p>
            <a:r>
              <a:rPr lang="en-US" dirty="0" err="1"/>
              <a:t>Wird</a:t>
            </a:r>
            <a:r>
              <a:rPr lang="en-US" dirty="0"/>
              <a:t> </a:t>
            </a:r>
            <a:r>
              <a:rPr lang="en-US" dirty="0" err="1"/>
              <a:t>zum</a:t>
            </a:r>
            <a:r>
              <a:rPr lang="en-US" dirty="0"/>
              <a:t> </a:t>
            </a:r>
            <a:r>
              <a:rPr lang="en-US" dirty="0" err="1"/>
              <a:t>Sortieren</a:t>
            </a:r>
            <a:r>
              <a:rPr lang="en-US" dirty="0"/>
              <a:t> von </a:t>
            </a:r>
            <a:r>
              <a:rPr lang="en-US" dirty="0" err="1"/>
              <a:t>großen</a:t>
            </a:r>
            <a:endParaRPr lang="en-US" dirty="0"/>
          </a:p>
          <a:p>
            <a:r>
              <a:rPr lang="en-US" dirty="0" err="1"/>
              <a:t>Datenmengen</a:t>
            </a:r>
            <a:r>
              <a:rPr lang="en-US" dirty="0"/>
              <a:t> </a:t>
            </a:r>
            <a:r>
              <a:rPr lang="en-US" dirty="0" err="1"/>
              <a:t>verwendet</a:t>
            </a:r>
            <a:r>
              <a:rPr lang="en-US"/>
              <a:t>.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22D9DD-0718-723D-BF28-C55EB1AFB3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871" y="2892070"/>
            <a:ext cx="6055430" cy="3406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433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2">
            <a:extLst>
              <a:ext uri="{FF2B5EF4-FFF2-40B4-BE49-F238E27FC236}">
                <a16:creationId xmlns:a16="http://schemas.microsoft.com/office/drawing/2014/main" id="{44BD8B6B-D670-504F-528F-DE75BAA4BD13}"/>
              </a:ext>
            </a:extLst>
          </p:cNvPr>
          <p:cNvSpPr txBox="1">
            <a:spLocks/>
          </p:cNvSpPr>
          <p:nvPr/>
        </p:nvSpPr>
        <p:spPr>
          <a:xfrm>
            <a:off x="420792" y="1261451"/>
            <a:ext cx="5675208" cy="494508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Ausgangsliste</a:t>
            </a:r>
            <a:r>
              <a:rPr lang="en-US" dirty="0"/>
              <a:t>: [7, 2, 9, 4, 1, 6, 8, 3, 5, 0]</a:t>
            </a:r>
          </a:p>
          <a:p>
            <a:r>
              <a:rPr lang="en-US" b="1" dirty="0"/>
              <a:t>1.Max-Heap </a:t>
            </a:r>
            <a:r>
              <a:rPr lang="en-US" b="1" dirty="0" err="1"/>
              <a:t>erstellen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3.Heapify</a:t>
            </a:r>
          </a:p>
          <a:p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0CB0EE5-B7B8-4553-3D9C-05447BD8D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676967"/>
            <a:ext cx="6868282" cy="714639"/>
          </a:xfrm>
        </p:spPr>
        <p:txBody>
          <a:bodyPr>
            <a:noAutofit/>
          </a:bodyPr>
          <a:lstStyle/>
          <a:p>
            <a:pPr algn="l"/>
            <a:r>
              <a:rPr lang="en-US" sz="4000" dirty="0" err="1">
                <a:solidFill>
                  <a:schemeClr val="tx1"/>
                </a:solidFill>
                <a:latin typeface="AKIRAEXPANDED-SUPERBOLD" panose="02000800000000000000" pitchFamily="2" charset="0"/>
              </a:rPr>
              <a:t>Funktionsweise</a:t>
            </a:r>
            <a:endParaRPr lang="en-US" sz="4000" dirty="0">
              <a:solidFill>
                <a:schemeClr val="tx1"/>
              </a:solidFill>
              <a:latin typeface="AKIRAEXPANDED-SUPERBOLD" panose="02000800000000000000" pitchFamily="2" charset="0"/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766FE83-D9BE-D969-ADC7-442DC0C925D3}"/>
              </a:ext>
            </a:extLst>
          </p:cNvPr>
          <p:cNvSpPr txBox="1">
            <a:spLocks/>
          </p:cNvSpPr>
          <p:nvPr/>
        </p:nvSpPr>
        <p:spPr>
          <a:xfrm>
            <a:off x="6495021" y="1261451"/>
            <a:ext cx="4386340" cy="494508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/>
          </a:p>
          <a:p>
            <a:r>
              <a:rPr lang="en-US" b="1" dirty="0"/>
              <a:t>2.Größtes Element </a:t>
            </a:r>
            <a:r>
              <a:rPr lang="en-US" b="1" dirty="0" err="1"/>
              <a:t>nach</a:t>
            </a:r>
            <a:r>
              <a:rPr lang="en-US" b="1" dirty="0"/>
              <a:t> </a:t>
            </a:r>
            <a:r>
              <a:rPr lang="en-US" b="1" dirty="0" err="1"/>
              <a:t>hinten</a:t>
            </a:r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4.Wiederholen</a:t>
            </a:r>
          </a:p>
          <a:p>
            <a:endParaRPr lang="en-US" b="1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04E98269-B195-F5F5-E1F9-BF579F8AF2B5}"/>
              </a:ext>
            </a:extLst>
          </p:cNvPr>
          <p:cNvSpPr txBox="1">
            <a:spLocks/>
          </p:cNvSpPr>
          <p:nvPr/>
        </p:nvSpPr>
        <p:spPr>
          <a:xfrm>
            <a:off x="2577796" y="1862001"/>
            <a:ext cx="2875402" cy="286205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Jeder</a:t>
            </a:r>
            <a:r>
              <a:rPr lang="en-US" dirty="0"/>
              <a:t> </a:t>
            </a:r>
            <a:r>
              <a:rPr lang="en-US" dirty="0" err="1"/>
              <a:t>Elternknoten</a:t>
            </a:r>
            <a:r>
              <a:rPr lang="en-US" dirty="0"/>
              <a:t> ≥ seine Kinder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dirty="0"/>
              <a:t>Das </a:t>
            </a:r>
            <a:r>
              <a:rPr lang="en-US" dirty="0" err="1"/>
              <a:t>größte</a:t>
            </a:r>
            <a:r>
              <a:rPr lang="en-US" dirty="0"/>
              <a:t> Element </a:t>
            </a:r>
            <a:r>
              <a:rPr lang="en-US" dirty="0" err="1"/>
              <a:t>steht</a:t>
            </a:r>
            <a:r>
              <a:rPr lang="en-US" dirty="0"/>
              <a:t> immer an der Wurzel</a:t>
            </a:r>
          </a:p>
          <a:p>
            <a:endParaRPr lang="en-US" dirty="0"/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E96CE1C-287A-1B59-C36F-FD5C7B69F21B}"/>
              </a:ext>
            </a:extLst>
          </p:cNvPr>
          <p:cNvSpPr txBox="1">
            <a:spLocks/>
          </p:cNvSpPr>
          <p:nvPr/>
        </p:nvSpPr>
        <p:spPr>
          <a:xfrm>
            <a:off x="9320545" y="1997971"/>
            <a:ext cx="2875402" cy="286205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9 </a:t>
            </a:r>
            <a:r>
              <a:rPr lang="en-US" dirty="0" err="1"/>
              <a:t>wird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dem </a:t>
            </a:r>
            <a:r>
              <a:rPr lang="en-US" dirty="0" err="1"/>
              <a:t>letzten</a:t>
            </a:r>
            <a:r>
              <a:rPr lang="en-US" dirty="0"/>
              <a:t> Element </a:t>
            </a:r>
            <a:r>
              <a:rPr lang="en-US" dirty="0" err="1"/>
              <a:t>getauscht</a:t>
            </a:r>
            <a:endParaRPr lang="en-US" dirty="0"/>
          </a:p>
          <a:p>
            <a:pPr marL="285750" indent="-285750">
              <a:buFont typeface="Wingdings" pitchFamily="2" charset="2"/>
              <a:buChar char="è"/>
            </a:pPr>
            <a:r>
              <a:rPr lang="en-US" dirty="0"/>
              <a:t>9 </a:t>
            </a:r>
            <a:r>
              <a:rPr lang="en-US" dirty="0" err="1"/>
              <a:t>ist</a:t>
            </a:r>
            <a:r>
              <a:rPr lang="en-US" dirty="0"/>
              <a:t> </a:t>
            </a:r>
            <a:r>
              <a:rPr lang="en-US" dirty="0" err="1"/>
              <a:t>sortiert</a:t>
            </a:r>
            <a:endParaRPr lang="en-US" dirty="0"/>
          </a:p>
          <a:p>
            <a:endParaRPr lang="en-US" dirty="0"/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761C3D96-7045-5DA4-A859-3C8ECDD3466A}"/>
              </a:ext>
            </a:extLst>
          </p:cNvPr>
          <p:cNvSpPr txBox="1">
            <a:spLocks/>
          </p:cNvSpPr>
          <p:nvPr/>
        </p:nvSpPr>
        <p:spPr>
          <a:xfrm>
            <a:off x="2621532" y="4238378"/>
            <a:ext cx="2875402" cy="286205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85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Weil </a:t>
            </a:r>
            <a:r>
              <a:rPr lang="en-US" dirty="0" err="1"/>
              <a:t>bei</a:t>
            </a:r>
            <a:r>
              <a:rPr lang="en-US" dirty="0"/>
              <a:t> 2. die Heap regel </a:t>
            </a:r>
            <a:r>
              <a:rPr lang="en-US" dirty="0" err="1"/>
              <a:t>gebrochen</a:t>
            </a:r>
            <a:r>
              <a:rPr lang="en-US" dirty="0"/>
              <a:t> </a:t>
            </a:r>
            <a:r>
              <a:rPr lang="en-US" dirty="0" err="1"/>
              <a:t>wird</a:t>
            </a:r>
            <a:r>
              <a:rPr lang="en-US" dirty="0"/>
              <a:t>, </a:t>
            </a:r>
            <a:r>
              <a:rPr lang="en-US" dirty="0" err="1"/>
              <a:t>stellt</a:t>
            </a:r>
            <a:r>
              <a:rPr lang="en-US" dirty="0"/>
              <a:t> </a:t>
            </a:r>
            <a:r>
              <a:rPr lang="en-US" dirty="0" err="1"/>
              <a:t>Heapify</a:t>
            </a:r>
            <a:r>
              <a:rPr lang="en-US" dirty="0"/>
              <a:t> den Baum neu her.</a:t>
            </a:r>
          </a:p>
          <a:p>
            <a:pPr marL="285750" indent="-285750">
              <a:buFont typeface="Wingdings" pitchFamily="2" charset="2"/>
              <a:buChar char="è"/>
            </a:pPr>
            <a:r>
              <a:rPr lang="en-US" dirty="0" err="1"/>
              <a:t>Größte</a:t>
            </a:r>
            <a:r>
              <a:rPr lang="en-US" dirty="0"/>
              <a:t> nicht </a:t>
            </a:r>
            <a:r>
              <a:rPr lang="en-US" dirty="0" err="1"/>
              <a:t>sortierte</a:t>
            </a:r>
            <a:r>
              <a:rPr lang="en-US" dirty="0"/>
              <a:t> Element </a:t>
            </a:r>
            <a:r>
              <a:rPr lang="en-US" dirty="0" err="1"/>
              <a:t>ganz</a:t>
            </a:r>
            <a:r>
              <a:rPr lang="en-US" dirty="0"/>
              <a:t> </a:t>
            </a:r>
            <a:r>
              <a:rPr lang="en-US" dirty="0" err="1"/>
              <a:t>oben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10DB797-0A71-9D06-6B45-B18988DFAA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8126" b="43278"/>
          <a:stretch>
            <a:fillRect/>
          </a:stretch>
        </p:blipFill>
        <p:spPr>
          <a:xfrm>
            <a:off x="233559" y="1928874"/>
            <a:ext cx="2477368" cy="187173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28E5CD-58A4-BDD0-D71D-EB3D345D53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469" r="34265" b="43313"/>
          <a:stretch>
            <a:fillRect/>
          </a:stretch>
        </p:blipFill>
        <p:spPr>
          <a:xfrm>
            <a:off x="6457785" y="1976090"/>
            <a:ext cx="2663250" cy="18705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CD6D22-7442-C4EE-E150-E635BC9387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869" b="39156"/>
          <a:stretch>
            <a:fillRect/>
          </a:stretch>
        </p:blipFill>
        <p:spPr>
          <a:xfrm>
            <a:off x="233559" y="4277110"/>
            <a:ext cx="2264230" cy="200775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A1399D-0C98-6EFB-721C-4659A18C24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469" t="58876" r="24857"/>
          <a:stretch>
            <a:fillRect/>
          </a:stretch>
        </p:blipFill>
        <p:spPr>
          <a:xfrm>
            <a:off x="6495021" y="4583200"/>
            <a:ext cx="3394461" cy="1357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125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833C9-C2A7-4E77-CCCE-01054D65F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F7B04E7C-4C5F-B254-C25B-757AA6153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2334" y="260407"/>
            <a:ext cx="6868282" cy="714639"/>
          </a:xfrm>
        </p:spPr>
        <p:txBody>
          <a:bodyPr>
            <a:noAutofit/>
          </a:bodyPr>
          <a:lstStyle/>
          <a:p>
            <a:pPr algn="l"/>
            <a:r>
              <a:rPr lang="en-US" sz="4000" dirty="0">
                <a:solidFill>
                  <a:schemeClr val="tx1"/>
                </a:solidFill>
                <a:latin typeface="AKIRAEXPANDED-SUPERBOLD" panose="02000800000000000000" pitchFamily="2" charset="0"/>
              </a:rPr>
              <a:t>Code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AC9F5E-2A15-9EB6-01EC-7D020D2D16C6}"/>
              </a:ext>
            </a:extLst>
          </p:cNvPr>
          <p:cNvSpPr txBox="1"/>
          <p:nvPr/>
        </p:nvSpPr>
        <p:spPr>
          <a:xfrm>
            <a:off x="5092026" y="975046"/>
            <a:ext cx="496388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n = 10000</a:t>
            </a:r>
            <a:r>
              <a:rPr lang="en-US" sz="1400" dirty="0"/>
              <a:t> → </a:t>
            </a:r>
            <a:r>
              <a:rPr lang="en-US" sz="1400" dirty="0" err="1"/>
              <a:t>Anzahl</a:t>
            </a:r>
            <a:r>
              <a:rPr lang="en-US" sz="1400" dirty="0"/>
              <a:t> der Zahlen</a:t>
            </a:r>
          </a:p>
          <a:p>
            <a:r>
              <a:rPr lang="en-US" sz="1400" b="1" dirty="0" err="1"/>
              <a:t>heapify</a:t>
            </a:r>
            <a:r>
              <a:rPr lang="en-US" sz="1400" b="1" dirty="0"/>
              <a:t>()</a:t>
            </a:r>
            <a:r>
              <a:rPr lang="en-US" sz="1400" dirty="0"/>
              <a:t> → </a:t>
            </a:r>
            <a:r>
              <a:rPr lang="en-US" sz="1400" dirty="0" err="1"/>
              <a:t>stellt</a:t>
            </a:r>
            <a:r>
              <a:rPr lang="en-US" sz="1400" dirty="0"/>
              <a:t> den Max-Heap </a:t>
            </a:r>
            <a:r>
              <a:rPr lang="en-US" sz="1400" dirty="0" err="1"/>
              <a:t>wieder</a:t>
            </a:r>
            <a:r>
              <a:rPr lang="en-US" sz="1400" dirty="0"/>
              <a:t> her</a:t>
            </a:r>
          </a:p>
          <a:p>
            <a:r>
              <a:rPr lang="en-US" sz="1400" b="1" dirty="0" err="1"/>
              <a:t>heap_sort</a:t>
            </a:r>
            <a:r>
              <a:rPr lang="en-US" sz="1400" b="1" dirty="0"/>
              <a:t>()</a:t>
            </a:r>
            <a:r>
              <a:rPr lang="en-US" sz="1400" dirty="0"/>
              <a:t> → </a:t>
            </a:r>
            <a:r>
              <a:rPr lang="en-US" sz="1400" dirty="0" err="1"/>
              <a:t>führt</a:t>
            </a:r>
            <a:r>
              <a:rPr lang="en-US" sz="1400" dirty="0"/>
              <a:t> den </a:t>
            </a:r>
            <a:r>
              <a:rPr lang="en-US" sz="1400" dirty="0" err="1"/>
              <a:t>Sortiervorgang</a:t>
            </a:r>
            <a:r>
              <a:rPr lang="en-US" sz="1400" dirty="0"/>
              <a:t> </a:t>
            </a:r>
            <a:r>
              <a:rPr lang="en-US" sz="1400" dirty="0" err="1"/>
              <a:t>durch</a:t>
            </a:r>
            <a:br>
              <a:rPr lang="en-US" sz="1400" dirty="0"/>
            </a:br>
            <a:r>
              <a:rPr lang="en-US" sz="1400" b="1" dirty="0" err="1"/>
              <a:t>perf_counter</a:t>
            </a:r>
            <a:r>
              <a:rPr lang="en-US" sz="1400" b="1" dirty="0"/>
              <a:t>()</a:t>
            </a:r>
            <a:r>
              <a:rPr lang="en-US" sz="1400" dirty="0"/>
              <a:t> → </a:t>
            </a:r>
            <a:r>
              <a:rPr lang="en-US" sz="1400" dirty="0" err="1"/>
              <a:t>misst</a:t>
            </a:r>
            <a:r>
              <a:rPr lang="en-US" sz="1400" dirty="0"/>
              <a:t> die </a:t>
            </a:r>
            <a:r>
              <a:rPr lang="en-US" sz="1400" dirty="0" err="1"/>
              <a:t>Laufzeit</a:t>
            </a:r>
            <a:endParaRPr lang="en-US" sz="1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E2D0838-D9B4-4B04-D165-5BA4C3366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84" y="0"/>
            <a:ext cx="44945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17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D04BC-1DE0-CE36-B0AE-318DE537B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Subtitle 2">
                <a:extLst>
                  <a:ext uri="{FF2B5EF4-FFF2-40B4-BE49-F238E27FC236}">
                    <a16:creationId xmlns:a16="http://schemas.microsoft.com/office/drawing/2014/main" id="{70514172-ECA1-5D22-7F0D-D6D3B04E88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360261" y="1298174"/>
                <a:ext cx="4339215" cy="4945087"/>
              </a:xfrm>
              <a:prstGeom prst="rect">
                <a:avLst/>
              </a:prstGeom>
            </p:spPr>
            <p:txBody>
              <a:bodyPr/>
              <a:lstStyle>
                <a:lvl1pPr marL="0" indent="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2860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5720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68580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91440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800" b="1" dirty="0">
                    <a:latin typeface="AKIRAEXPANDED-SUPERBOLD" panose="02000800000000000000" pitchFamily="2" charset="0"/>
                  </a:rPr>
                  <a:t>Tests</a:t>
                </a:r>
              </a:p>
              <a:p>
                <a:r>
                  <a:rPr lang="en-US" dirty="0"/>
                  <a:t>n = 10 000 -&gt; 0.024009542000000002 s </a:t>
                </a:r>
              </a:p>
              <a:p>
                <a:r>
                  <a:rPr lang="en-US" dirty="0"/>
                  <a:t>n = 20 000 -&gt;  0.04921120799999999 s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𝐹𝑎𝑘𝑡𝑜𝑟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0.0492112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0.0240095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/>
                        <m:t>2.04965534476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Heap Sort = </a:t>
                </a:r>
                <a:r>
                  <a:rPr lang="en-US" b="1" dirty="0"/>
                  <a:t>O(n log n)</a:t>
                </a:r>
                <a:r>
                  <a:rPr lang="en-US" dirty="0"/>
                  <a:t>, </a:t>
                </a:r>
                <a:r>
                  <a:rPr lang="en-US" dirty="0" err="1"/>
                  <a:t>weil</a:t>
                </a:r>
                <a:r>
                  <a:rPr lang="en-US" dirty="0"/>
                  <a:t> </a:t>
                </a:r>
                <a:r>
                  <a:rPr lang="en-US" b="1" dirty="0"/>
                  <a:t>n </a:t>
                </a:r>
                <a:r>
                  <a:rPr lang="en-US" b="1" dirty="0" err="1"/>
                  <a:t>Elemente</a:t>
                </a:r>
                <a:r>
                  <a:rPr lang="en-US" dirty="0"/>
                  <a:t> </a:t>
                </a:r>
                <a:r>
                  <a:rPr lang="en-US" dirty="0" err="1"/>
                  <a:t>jeweils</a:t>
                </a:r>
                <a:r>
                  <a:rPr lang="en-US" dirty="0"/>
                  <a:t>  maximal </a:t>
                </a:r>
                <a:r>
                  <a:rPr lang="en-US" b="1" dirty="0"/>
                  <a:t>log₂(n) </a:t>
                </a:r>
                <a:r>
                  <a:rPr lang="en-US" b="1" dirty="0" err="1"/>
                  <a:t>Ebenen</a:t>
                </a:r>
                <a:r>
                  <a:rPr lang="en-US" dirty="0"/>
                  <a:t> </a:t>
                </a:r>
                <a:r>
                  <a:rPr lang="en-US" dirty="0" err="1"/>
                  <a:t>heapifizieren</a:t>
                </a:r>
                <a:r>
                  <a:rPr lang="en-US" dirty="0"/>
                  <a:t>:</a:t>
                </a:r>
                <a:endParaRPr lang="en-US" dirty="0"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𝐻𝑒𝑎𝑝𝑖𝑓𝑦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∙</m:t>
                      </m:r>
                      <m:func>
                        <m:funcPr>
                          <m:ctrl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𝑂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func>
                        <m:funcPr>
                          <m:ctrl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Subtitle 2">
                <a:extLst>
                  <a:ext uri="{FF2B5EF4-FFF2-40B4-BE49-F238E27FC236}">
                    <a16:creationId xmlns:a16="http://schemas.microsoft.com/office/drawing/2014/main" id="{70514172-ECA1-5D22-7F0D-D6D3B04E88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0261" y="1298174"/>
                <a:ext cx="4339215" cy="4945087"/>
              </a:xfrm>
              <a:prstGeom prst="rect">
                <a:avLst/>
              </a:prstGeom>
              <a:blipFill>
                <a:blip r:embed="rId2"/>
                <a:stretch>
                  <a:fillRect l="-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itle 1">
            <a:extLst>
              <a:ext uri="{FF2B5EF4-FFF2-40B4-BE49-F238E27FC236}">
                <a16:creationId xmlns:a16="http://schemas.microsoft.com/office/drawing/2014/main" id="{663D782A-0549-B506-2B36-DC3E85486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676967"/>
            <a:ext cx="6868282" cy="714639"/>
          </a:xfrm>
        </p:spPr>
        <p:txBody>
          <a:bodyPr>
            <a:noAutofit/>
          </a:bodyPr>
          <a:lstStyle/>
          <a:p>
            <a:pPr algn="l"/>
            <a:r>
              <a:rPr lang="en-US" sz="4000" dirty="0" err="1">
                <a:solidFill>
                  <a:schemeClr val="tx1"/>
                </a:solidFill>
                <a:latin typeface="AKIRAEXPANDED-SUPERBOLD" panose="02000800000000000000" pitchFamily="2" charset="0"/>
              </a:rPr>
              <a:t>Laufzeit</a:t>
            </a:r>
            <a:endParaRPr lang="en-US" sz="4000" dirty="0">
              <a:solidFill>
                <a:schemeClr val="tx1"/>
              </a:solidFill>
              <a:latin typeface="AKIRAEXPANDED-SUPERBOLD" panose="02000800000000000000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Subtitle 2">
                <a:extLst>
                  <a:ext uri="{FF2B5EF4-FFF2-40B4-BE49-F238E27FC236}">
                    <a16:creationId xmlns:a16="http://schemas.microsoft.com/office/drawing/2014/main" id="{32BAD959-FABF-0046-A5B8-F82889AA52B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791" y="1316624"/>
                <a:ext cx="4339215" cy="4945087"/>
              </a:xfrm>
              <a:prstGeom prst="rect">
                <a:avLst/>
              </a:prstGeom>
            </p:spPr>
            <p:txBody>
              <a:bodyPr/>
              <a:lstStyle>
                <a:lvl1pPr marL="0" indent="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22860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45720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68580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914400" indent="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Bei O(n log n):</a:t>
                </a:r>
              </a:p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log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log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b="0" dirty="0"/>
              </a:p>
              <a:p>
                <a:r>
                  <a:rPr lang="en-US" dirty="0"/>
                  <a:t>Für n = 10 000</a:t>
                </a:r>
              </a:p>
              <a:p>
                <a:pPr marL="285750" indent="-285750">
                  <a:buFont typeface="Wingdings" pitchFamily="2" charset="2"/>
                  <a:buChar char="è"/>
                </a:pP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2.15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Wingdings" pitchFamily="2" charset="2"/>
                  <a:buChar char="è"/>
                </a:pPr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/>
                  <a:t>Bei </a:t>
                </a:r>
                <a:r>
                  <a:rPr lang="en-US" dirty="0" err="1"/>
                  <a:t>jeder</a:t>
                </a:r>
                <a:r>
                  <a:rPr lang="en-US" dirty="0"/>
                  <a:t> Ebene </a:t>
                </a:r>
                <a:r>
                  <a:rPr lang="en-US" dirty="0" err="1"/>
                  <a:t>verdoppelt</a:t>
                </a:r>
                <a:r>
                  <a:rPr lang="en-US" dirty="0"/>
                  <a:t> </a:t>
                </a:r>
                <a:r>
                  <a:rPr lang="en-US" dirty="0" err="1"/>
                  <a:t>sich</a:t>
                </a:r>
                <a:r>
                  <a:rPr lang="en-US" dirty="0"/>
                  <a:t> </a:t>
                </a:r>
                <a:r>
                  <a:rPr lang="en-US" dirty="0" err="1"/>
                  <a:t>ungefähr</a:t>
                </a:r>
                <a:r>
                  <a:rPr lang="en-US" dirty="0"/>
                  <a:t> die </a:t>
                </a:r>
                <a:r>
                  <a:rPr lang="en-US" dirty="0" err="1"/>
                  <a:t>Anzahl</a:t>
                </a:r>
                <a:r>
                  <a:rPr lang="en-US" dirty="0"/>
                  <a:t> der </a:t>
                </a:r>
                <a:r>
                  <a:rPr lang="en-US" dirty="0" err="1"/>
                  <a:t>möglichen</a:t>
                </a:r>
                <a:r>
                  <a:rPr lang="en-US" dirty="0"/>
                  <a:t> Knoten. Nach h Ebenen </a:t>
                </a:r>
                <a:r>
                  <a:rPr lang="en-US" dirty="0" err="1"/>
                  <a:t>gibt</a:t>
                </a:r>
                <a:r>
                  <a:rPr lang="en-US" dirty="0"/>
                  <a:t> es </a:t>
                </a:r>
                <a:r>
                  <a:rPr lang="en-US" dirty="0" err="1"/>
                  <a:t>ungefähr</a:t>
                </a:r>
                <a:r>
                  <a:rPr lang="en-US" dirty="0"/>
                  <a:t>: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Bei </a:t>
                </a:r>
                <a:r>
                  <a:rPr lang="en-US" dirty="0" err="1"/>
                  <a:t>insgesamt</a:t>
                </a:r>
                <a:r>
                  <a:rPr lang="en-US" dirty="0"/>
                  <a:t> n Knoten: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ℎ</m:t>
                        </m:r>
                      </m:sup>
                    </m:sSup>
                  </m:oMath>
                </a14:m>
                <a:endParaRPr lang="en-US" dirty="0"/>
              </a:p>
              <a:p>
                <a:pPr algn="ctr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dirty="0"/>
                  <a:t> </a:t>
                </a:r>
              </a:p>
              <a:p>
                <a:pPr algn="ctr"/>
                <a:endParaRPr lang="en-US" dirty="0"/>
              </a:p>
            </p:txBody>
          </p:sp>
        </mc:Choice>
        <mc:Fallback>
          <p:sp>
            <p:nvSpPr>
              <p:cNvPr id="2" name="Subtitle 2">
                <a:extLst>
                  <a:ext uri="{FF2B5EF4-FFF2-40B4-BE49-F238E27FC236}">
                    <a16:creationId xmlns:a16="http://schemas.microsoft.com/office/drawing/2014/main" id="{32BAD959-FABF-0046-A5B8-F82889AA52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791" y="1316624"/>
                <a:ext cx="4339215" cy="4945087"/>
              </a:xfrm>
              <a:prstGeom prst="rect">
                <a:avLst/>
              </a:prstGeom>
              <a:blipFill>
                <a:blip r:embed="rId3"/>
                <a:stretch>
                  <a:fillRect l="-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1180434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1307</TotalTime>
  <Words>299</Words>
  <Application>Microsoft Macintosh PowerPoint</Application>
  <PresentationFormat>Widescreen</PresentationFormat>
  <Paragraphs>55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AKIRAEXPANDED-SUPERBOLD</vt:lpstr>
      <vt:lpstr>Arial</vt:lpstr>
      <vt:lpstr>Cambria Math</vt:lpstr>
      <vt:lpstr>Neue Haas Grotesk Text Pro</vt:lpstr>
      <vt:lpstr>Wingdings</vt:lpstr>
      <vt:lpstr>Helena</vt:lpstr>
      <vt:lpstr>Heap-Sort</vt:lpstr>
      <vt:lpstr>Grundlagen</vt:lpstr>
      <vt:lpstr>Funktionsweise</vt:lpstr>
      <vt:lpstr>Code</vt:lpstr>
      <vt:lpstr>Laufzeit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FRONTHALER Samuel, SchülerIn</dc:creator>
  <cp:lastModifiedBy>FRONTHALER Samuel, SchülerIn</cp:lastModifiedBy>
  <cp:revision>15</cp:revision>
  <dcterms:created xsi:type="dcterms:W3CDTF">2026-10-06T09:29:59Z</dcterms:created>
  <dcterms:modified xsi:type="dcterms:W3CDTF">2026-10-13T17:33:48Z</dcterms:modified>
</cp:coreProperties>
</file>