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699"/>
  </p:normalViewPr>
  <p:slideViewPr>
    <p:cSldViewPr snapToGrid="0">
      <p:cViewPr>
        <p:scale>
          <a:sx n="137" d="100"/>
          <a:sy n="137" d="100"/>
        </p:scale>
        <p:origin x="66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0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54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8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3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08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7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2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36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8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1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24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4667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2593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5658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97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9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22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5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99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4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95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304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864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14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142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75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2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D202-5A6B-98B3-2C4F-0D532415D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837" y="2256090"/>
            <a:ext cx="7528845" cy="1378001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KIRAEXPANDED-SUPERBOLD" panose="02000800000000000000" pitchFamily="2" charset="0"/>
              </a:rPr>
              <a:t>Heap-Sort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1405B-950B-4C4F-91DE-E78A1A6CB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9822" y="3634091"/>
            <a:ext cx="3830874" cy="1496616"/>
          </a:xfrm>
        </p:spPr>
        <p:txBody>
          <a:bodyPr/>
          <a:lstStyle/>
          <a:p>
            <a:pPr algn="ctr"/>
            <a:r>
              <a:rPr lang="en-US" dirty="0"/>
              <a:t>Samuel Fronthaler</a:t>
            </a:r>
          </a:p>
        </p:txBody>
      </p:sp>
    </p:spTree>
    <p:extLst>
      <p:ext uri="{BB962C8B-B14F-4D97-AF65-F5344CB8AC3E}">
        <p14:creationId xmlns:p14="http://schemas.microsoft.com/office/powerpoint/2010/main" val="174771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2AFD7F-573C-CBDB-9EA7-0CF466A3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24" y="851138"/>
            <a:ext cx="5658468" cy="714639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KIRAEXPANDED-SUPERBOLD" panose="02000800000000000000" pitchFamily="2" charset="0"/>
              </a:rPr>
              <a:t>Grundlagen</a:t>
            </a:r>
            <a:endParaRPr lang="en-US" sz="4000" dirty="0">
              <a:latin typeface="AKIRAEXPANDED-SUPERBOLD" panose="020008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BB64A36-2885-F70F-6467-39EE85307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24" y="1912913"/>
            <a:ext cx="10996851" cy="4945087"/>
          </a:xfrm>
        </p:spPr>
        <p:txBody>
          <a:bodyPr/>
          <a:lstStyle/>
          <a:p>
            <a:r>
              <a:rPr lang="en-US" dirty="0" err="1"/>
              <a:t>Verwendet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spezielle</a:t>
            </a:r>
            <a:r>
              <a:rPr lang="en-US" dirty="0"/>
              <a:t> </a:t>
            </a:r>
            <a:r>
              <a:rPr lang="en-US" dirty="0" err="1"/>
              <a:t>Datenstruktur</a:t>
            </a:r>
            <a:r>
              <a:rPr lang="en-US" dirty="0"/>
              <a:t> </a:t>
            </a:r>
            <a:r>
              <a:rPr lang="en-US" dirty="0" err="1"/>
              <a:t>namens</a:t>
            </a:r>
            <a:r>
              <a:rPr lang="en-US" dirty="0"/>
              <a:t> ”Heap”. </a:t>
            </a:r>
          </a:p>
          <a:p>
            <a:r>
              <a:rPr lang="en-US" dirty="0" err="1"/>
              <a:t>Sortiert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, </a:t>
            </a:r>
            <a:r>
              <a:rPr lang="en-US" dirty="0" err="1"/>
              <a:t>indem</a:t>
            </a:r>
            <a:r>
              <a:rPr lang="en-US" dirty="0"/>
              <a:t> er </a:t>
            </a:r>
            <a:r>
              <a:rPr lang="en-US" dirty="0" err="1"/>
              <a:t>einen</a:t>
            </a:r>
            <a:r>
              <a:rPr lang="en-US" dirty="0"/>
              <a:t> Heap </a:t>
            </a:r>
            <a:r>
              <a:rPr lang="en-US" dirty="0" err="1"/>
              <a:t>aufbaut</a:t>
            </a:r>
            <a:r>
              <a:rPr lang="en-US" dirty="0"/>
              <a:t> und </a:t>
            </a:r>
            <a:r>
              <a:rPr lang="en-US" dirty="0" err="1"/>
              <a:t>anschließend</a:t>
            </a:r>
            <a:r>
              <a:rPr lang="en-US" dirty="0"/>
              <a:t> immer </a:t>
            </a:r>
            <a:r>
              <a:rPr lang="en-US" dirty="0" err="1"/>
              <a:t>wieder</a:t>
            </a:r>
            <a:r>
              <a:rPr lang="en-US" dirty="0"/>
              <a:t> das </a:t>
            </a:r>
            <a:r>
              <a:rPr lang="en-US" dirty="0" err="1"/>
              <a:t>größte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kleinste</a:t>
            </a:r>
            <a:r>
              <a:rPr lang="en-US" dirty="0"/>
              <a:t> Element an die </a:t>
            </a:r>
            <a:r>
              <a:rPr lang="en-US" dirty="0" err="1"/>
              <a:t>richtige</a:t>
            </a:r>
            <a:r>
              <a:rPr lang="en-US" dirty="0"/>
              <a:t> Position </a:t>
            </a:r>
            <a:r>
              <a:rPr lang="en-US" dirty="0" err="1"/>
              <a:t>verschiebt</a:t>
            </a:r>
            <a:r>
              <a:rPr lang="en-US" dirty="0"/>
              <a:t>.</a:t>
            </a:r>
          </a:p>
          <a:p>
            <a:r>
              <a:rPr lang="en-US" b="1" dirty="0"/>
              <a:t>- </a:t>
            </a:r>
            <a:r>
              <a:rPr lang="en-US" b="1" dirty="0" err="1"/>
              <a:t>Laufzeit</a:t>
            </a:r>
            <a:r>
              <a:rPr lang="en-US" b="1" dirty="0"/>
              <a:t>: O(n log n)</a:t>
            </a:r>
          </a:p>
          <a:p>
            <a:r>
              <a:rPr lang="en-US" b="1" dirty="0"/>
              <a:t>- Speicher: O(1) </a:t>
            </a:r>
            <a:r>
              <a:rPr lang="en-US" b="1" dirty="0" err="1"/>
              <a:t>zusätlicher</a:t>
            </a:r>
            <a:r>
              <a:rPr lang="en-US" b="1" dirty="0"/>
              <a:t> Speicher</a:t>
            </a:r>
          </a:p>
          <a:p>
            <a:r>
              <a:rPr lang="en-US" b="1" dirty="0"/>
              <a:t>- </a:t>
            </a:r>
            <a:r>
              <a:rPr lang="en-US" b="1" dirty="0" err="1"/>
              <a:t>Instabil</a:t>
            </a:r>
            <a:endParaRPr lang="en-US" b="1" dirty="0"/>
          </a:p>
          <a:p>
            <a:r>
              <a:rPr lang="en-US" dirty="0"/>
              <a:t>In 1964 von J. W. J. Williams </a:t>
            </a:r>
            <a:r>
              <a:rPr lang="en-US" dirty="0" err="1"/>
              <a:t>entwickelt</a:t>
            </a:r>
            <a:endParaRPr lang="en-US" dirty="0"/>
          </a:p>
          <a:p>
            <a:r>
              <a:rPr lang="en-US" dirty="0" err="1"/>
              <a:t>Wird</a:t>
            </a:r>
            <a:r>
              <a:rPr lang="en-US" dirty="0"/>
              <a:t> in </a:t>
            </a:r>
            <a:r>
              <a:rPr lang="en-US" dirty="0" err="1"/>
              <a:t>Prioritätswarteschlangen</a:t>
            </a:r>
            <a:r>
              <a:rPr lang="en-US" dirty="0"/>
              <a:t> </a:t>
            </a:r>
            <a:r>
              <a:rPr lang="en-US" dirty="0" err="1"/>
              <a:t>benutzt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2D9DD-0718-723D-BF28-C55EB1AFB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71" y="2892070"/>
            <a:ext cx="6055430" cy="34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3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4BD8B6B-D670-504F-528F-DE75BAA4BD13}"/>
              </a:ext>
            </a:extLst>
          </p:cNvPr>
          <p:cNvSpPr txBox="1">
            <a:spLocks/>
          </p:cNvSpPr>
          <p:nvPr/>
        </p:nvSpPr>
        <p:spPr>
          <a:xfrm>
            <a:off x="420792" y="1261451"/>
            <a:ext cx="5675208" cy="49450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Ausgangsliste</a:t>
            </a:r>
            <a:r>
              <a:rPr lang="en-US" dirty="0"/>
              <a:t>: [7, 2, 9, 4, 1, 6, 8, 3, 5, 0]</a:t>
            </a:r>
          </a:p>
          <a:p>
            <a:r>
              <a:rPr lang="en-US" b="1" dirty="0"/>
              <a:t>1.Max-Heap </a:t>
            </a:r>
            <a:r>
              <a:rPr lang="en-US" b="1" dirty="0" err="1"/>
              <a:t>erstellen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3.Heapify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CB0EE5-B7B8-4553-3D9C-05447BD8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67696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>
                <a:solidFill>
                  <a:schemeClr val="tx1"/>
                </a:solidFill>
                <a:latin typeface="AKIRAEXPANDED-SUPERBOLD" panose="02000800000000000000" pitchFamily="2" charset="0"/>
              </a:rPr>
              <a:t>Funktionsweise</a:t>
            </a:r>
            <a:endParaRPr lang="en-US" sz="4000" dirty="0">
              <a:solidFill>
                <a:schemeClr val="tx1"/>
              </a:solidFill>
              <a:latin typeface="AKIRAEXPANDED-SUPERBOLD" panose="020008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766FE83-D9BE-D969-ADC7-442DC0C925D3}"/>
              </a:ext>
            </a:extLst>
          </p:cNvPr>
          <p:cNvSpPr txBox="1">
            <a:spLocks/>
          </p:cNvSpPr>
          <p:nvPr/>
        </p:nvSpPr>
        <p:spPr>
          <a:xfrm>
            <a:off x="6495021" y="1261451"/>
            <a:ext cx="4386340" cy="49450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r>
              <a:rPr lang="en-US" b="1" dirty="0"/>
              <a:t>2.Größtes Element </a:t>
            </a:r>
            <a:r>
              <a:rPr lang="en-US" b="1" dirty="0" err="1"/>
              <a:t>nach</a:t>
            </a:r>
            <a:r>
              <a:rPr lang="en-US" b="1" dirty="0"/>
              <a:t> </a:t>
            </a:r>
            <a:r>
              <a:rPr lang="en-US" b="1" dirty="0" err="1"/>
              <a:t>hinten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4.Wiederholen</a:t>
            </a:r>
          </a:p>
          <a:p>
            <a:endParaRPr lang="en-US" b="1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E98269-B195-F5F5-E1F9-BF579F8AF2B5}"/>
              </a:ext>
            </a:extLst>
          </p:cNvPr>
          <p:cNvSpPr txBox="1">
            <a:spLocks/>
          </p:cNvSpPr>
          <p:nvPr/>
        </p:nvSpPr>
        <p:spPr>
          <a:xfrm>
            <a:off x="2577796" y="1862001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Elternknoten</a:t>
            </a:r>
            <a:r>
              <a:rPr lang="en-US" dirty="0"/>
              <a:t> ≥ seine Kinder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dirty="0"/>
              <a:t>Das </a:t>
            </a:r>
            <a:r>
              <a:rPr lang="en-US" dirty="0" err="1"/>
              <a:t>größte</a:t>
            </a:r>
            <a:r>
              <a:rPr lang="en-US" dirty="0"/>
              <a:t> Element </a:t>
            </a:r>
            <a:r>
              <a:rPr lang="en-US" dirty="0" err="1"/>
              <a:t>steht</a:t>
            </a:r>
            <a:r>
              <a:rPr lang="en-US" dirty="0"/>
              <a:t> immer an der Wurzel</a:t>
            </a:r>
          </a:p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E96CE1C-287A-1B59-C36F-FD5C7B69F21B}"/>
              </a:ext>
            </a:extLst>
          </p:cNvPr>
          <p:cNvSpPr txBox="1">
            <a:spLocks/>
          </p:cNvSpPr>
          <p:nvPr/>
        </p:nvSpPr>
        <p:spPr>
          <a:xfrm>
            <a:off x="9320545" y="1997971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letzten</a:t>
            </a:r>
            <a:r>
              <a:rPr lang="en-US" dirty="0"/>
              <a:t> Element </a:t>
            </a:r>
            <a:r>
              <a:rPr lang="en-US" dirty="0" err="1"/>
              <a:t>getauscht</a:t>
            </a:r>
            <a:endParaRPr lang="en-US" dirty="0"/>
          </a:p>
          <a:p>
            <a:pPr marL="285750" indent="-285750">
              <a:buFont typeface="Wingdings" pitchFamily="2" charset="2"/>
              <a:buChar char="è"/>
            </a:pPr>
            <a:r>
              <a:rPr lang="en-US" dirty="0"/>
              <a:t>9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sortiert</a:t>
            </a:r>
            <a:endParaRPr lang="en-US" dirty="0"/>
          </a:p>
          <a:p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61C3D96-7045-5DA4-A859-3C8ECDD3466A}"/>
              </a:ext>
            </a:extLst>
          </p:cNvPr>
          <p:cNvSpPr txBox="1">
            <a:spLocks/>
          </p:cNvSpPr>
          <p:nvPr/>
        </p:nvSpPr>
        <p:spPr>
          <a:xfrm>
            <a:off x="2621532" y="4238378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Weil </a:t>
            </a:r>
            <a:r>
              <a:rPr lang="en-US" dirty="0" err="1"/>
              <a:t>bei</a:t>
            </a:r>
            <a:r>
              <a:rPr lang="en-US" dirty="0"/>
              <a:t> 2. die Heap regel </a:t>
            </a:r>
            <a:r>
              <a:rPr lang="en-US" dirty="0" err="1"/>
              <a:t>gebrochen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,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Heapify</a:t>
            </a:r>
            <a:r>
              <a:rPr lang="en-US" dirty="0"/>
              <a:t> den Baum neu her.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dirty="0" err="1"/>
              <a:t>Größte</a:t>
            </a:r>
            <a:r>
              <a:rPr lang="en-US" dirty="0"/>
              <a:t> nicht </a:t>
            </a:r>
            <a:r>
              <a:rPr lang="en-US" dirty="0" err="1"/>
              <a:t>sortierte</a:t>
            </a:r>
            <a:r>
              <a:rPr lang="en-US" dirty="0"/>
              <a:t> Element </a:t>
            </a:r>
            <a:r>
              <a:rPr lang="en-US" dirty="0" err="1"/>
              <a:t>ganz</a:t>
            </a:r>
            <a:r>
              <a:rPr lang="en-US" dirty="0"/>
              <a:t> </a:t>
            </a:r>
            <a:r>
              <a:rPr lang="en-US" dirty="0" err="1"/>
              <a:t>oben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0DB797-0A71-9D06-6B45-B18988DF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126" b="43278"/>
          <a:stretch>
            <a:fillRect/>
          </a:stretch>
        </p:blipFill>
        <p:spPr>
          <a:xfrm>
            <a:off x="233559" y="1928874"/>
            <a:ext cx="2477368" cy="18717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8E5CD-58A4-BDD0-D71D-EB3D345D5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69" r="34265" b="43313"/>
          <a:stretch>
            <a:fillRect/>
          </a:stretch>
        </p:blipFill>
        <p:spPr>
          <a:xfrm>
            <a:off x="6457785" y="1976090"/>
            <a:ext cx="2663250" cy="1870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D6D22-7442-C4EE-E150-E635BC93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69" b="39156"/>
          <a:stretch>
            <a:fillRect/>
          </a:stretch>
        </p:blipFill>
        <p:spPr>
          <a:xfrm>
            <a:off x="233559" y="4277110"/>
            <a:ext cx="2264230" cy="2007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1399D-0C98-6EFB-721C-4659A18C2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69" t="58876" r="24857"/>
          <a:stretch>
            <a:fillRect/>
          </a:stretch>
        </p:blipFill>
        <p:spPr>
          <a:xfrm>
            <a:off x="6495021" y="4583200"/>
            <a:ext cx="3394461" cy="13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33C9-C2A7-4E77-CCCE-01054D65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7B04E7C-4C5F-B254-C25B-757AA615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334" y="26040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/>
                </a:solidFill>
                <a:latin typeface="AKIRAEXPANDED-SUPERBOLD" panose="02000800000000000000" pitchFamily="2" charset="0"/>
              </a:rPr>
              <a:t>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AC9F5E-2A15-9EB6-01EC-7D020D2D16C6}"/>
              </a:ext>
            </a:extLst>
          </p:cNvPr>
          <p:cNvSpPr txBox="1"/>
          <p:nvPr/>
        </p:nvSpPr>
        <p:spPr>
          <a:xfrm>
            <a:off x="5092026" y="975046"/>
            <a:ext cx="4963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 = 10000</a:t>
            </a:r>
            <a:r>
              <a:rPr lang="en-US" sz="1400" dirty="0"/>
              <a:t> → </a:t>
            </a:r>
            <a:r>
              <a:rPr lang="en-US" sz="1400" dirty="0" err="1"/>
              <a:t>Anzahl</a:t>
            </a:r>
            <a:r>
              <a:rPr lang="en-US" sz="1400" dirty="0"/>
              <a:t> der Zahlen</a:t>
            </a:r>
          </a:p>
          <a:p>
            <a:r>
              <a:rPr lang="en-US" sz="1400" b="1" dirty="0" err="1"/>
              <a:t>heapify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stellt</a:t>
            </a:r>
            <a:r>
              <a:rPr lang="en-US" sz="1400" dirty="0"/>
              <a:t> den Max-Heap </a:t>
            </a:r>
            <a:r>
              <a:rPr lang="en-US" sz="1400" dirty="0" err="1"/>
              <a:t>wieder</a:t>
            </a:r>
            <a:r>
              <a:rPr lang="en-US" sz="1400" dirty="0"/>
              <a:t> her</a:t>
            </a:r>
          </a:p>
          <a:p>
            <a:r>
              <a:rPr lang="en-US" sz="1400" b="1" dirty="0" err="1"/>
              <a:t>heap_sort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führt</a:t>
            </a:r>
            <a:r>
              <a:rPr lang="en-US" sz="1400" dirty="0"/>
              <a:t> den </a:t>
            </a:r>
            <a:r>
              <a:rPr lang="en-US" sz="1400" dirty="0" err="1"/>
              <a:t>Sortiervorgang</a:t>
            </a:r>
            <a:r>
              <a:rPr lang="en-US" sz="1400" dirty="0"/>
              <a:t> </a:t>
            </a:r>
            <a:r>
              <a:rPr lang="en-US" sz="1400" dirty="0" err="1"/>
              <a:t>durch</a:t>
            </a:r>
            <a:br>
              <a:rPr lang="en-US" sz="1400" dirty="0"/>
            </a:br>
            <a:r>
              <a:rPr lang="en-US" sz="1400" b="1" dirty="0" err="1"/>
              <a:t>perf_counter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misst</a:t>
            </a:r>
            <a:r>
              <a:rPr lang="en-US" sz="1400" dirty="0"/>
              <a:t> die </a:t>
            </a:r>
            <a:r>
              <a:rPr lang="en-US" sz="1400" dirty="0" err="1"/>
              <a:t>Laufzeit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D0838-D9B4-4B04-D165-5BA4C336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84" y="0"/>
            <a:ext cx="4494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1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04BC-1DE0-CE36-B0AE-318DE537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70514172-ECA1-5D22-7F0D-D6D3B04E8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60261" y="1298174"/>
                <a:ext cx="4339215" cy="494508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b="1" dirty="0">
                    <a:latin typeface="AKIRAEXPANDED-SUPERBOLD" panose="02000800000000000000" pitchFamily="2" charset="0"/>
                  </a:rPr>
                  <a:t>Tests</a:t>
                </a:r>
              </a:p>
              <a:p>
                <a:r>
                  <a:rPr lang="en-US" dirty="0"/>
                  <a:t>n = 10 000 -&gt; 0.024009542000000002 s </a:t>
                </a:r>
              </a:p>
              <a:p>
                <a:r>
                  <a:rPr lang="en-US" dirty="0"/>
                  <a:t>n = 20 000 -&gt;  0.04921120799999999 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𝐹𝑎𝑘𝑡𝑜𝑟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0.0492112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0.0240095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/>
                        <m:t>2.04965534476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Heap Sort = </a:t>
                </a:r>
                <a:r>
                  <a:rPr lang="en-US" b="1" dirty="0"/>
                  <a:t>O(n log n)</a:t>
                </a:r>
                <a:r>
                  <a:rPr lang="en-US" dirty="0"/>
                  <a:t>, </a:t>
                </a:r>
                <a:r>
                  <a:rPr lang="en-US" dirty="0" err="1"/>
                  <a:t>weil</a:t>
                </a:r>
                <a:r>
                  <a:rPr lang="en-US" dirty="0"/>
                  <a:t> </a:t>
                </a:r>
                <a:r>
                  <a:rPr lang="en-US" b="1" dirty="0"/>
                  <a:t>n </a:t>
                </a:r>
                <a:r>
                  <a:rPr lang="en-US" b="1" dirty="0" err="1"/>
                  <a:t>Elemente</a:t>
                </a:r>
                <a:r>
                  <a:rPr lang="en-US" dirty="0"/>
                  <a:t> </a:t>
                </a:r>
                <a:r>
                  <a:rPr lang="en-US" dirty="0" err="1"/>
                  <a:t>jeweils</a:t>
                </a:r>
                <a:r>
                  <a:rPr lang="en-US" dirty="0"/>
                  <a:t>  maximal </a:t>
                </a:r>
                <a:r>
                  <a:rPr lang="en-US" b="1" dirty="0"/>
                  <a:t>log₂(n) </a:t>
                </a:r>
                <a:r>
                  <a:rPr lang="en-US" b="1" dirty="0" err="1"/>
                  <a:t>Ebenen</a:t>
                </a:r>
                <a:r>
                  <a:rPr lang="en-US" dirty="0"/>
                  <a:t> </a:t>
                </a:r>
                <a:r>
                  <a:rPr lang="en-US" dirty="0" err="1"/>
                  <a:t>heapifizieren</a:t>
                </a:r>
                <a:r>
                  <a:rPr lang="en-US" dirty="0"/>
                  <a:t>: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𝐻𝑒𝑎𝑝𝑖𝑓𝑦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∙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70514172-ECA1-5D22-7F0D-D6D3B04E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261" y="1298174"/>
                <a:ext cx="4339215" cy="4945087"/>
              </a:xfrm>
              <a:prstGeom prst="rect">
                <a:avLst/>
              </a:prstGeom>
              <a:blipFill>
                <a:blip r:embed="rId2"/>
                <a:stretch>
                  <a:fillRect l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663D782A-0549-B506-2B36-DC3E8548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67696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>
                <a:solidFill>
                  <a:schemeClr val="tx1"/>
                </a:solidFill>
                <a:latin typeface="AKIRAEXPANDED-SUPERBOLD" panose="02000800000000000000" pitchFamily="2" charset="0"/>
              </a:rPr>
              <a:t>Laufzeit</a:t>
            </a:r>
            <a:endParaRPr lang="en-US" sz="4000" dirty="0">
              <a:solidFill>
                <a:schemeClr val="tx1"/>
              </a:solidFill>
              <a:latin typeface="AKIRAEXPANDED-SUPERBOLD" panose="020008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32BAD959-FABF-0046-A5B8-F82889AA52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791" y="1316624"/>
                <a:ext cx="4339215" cy="494508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Bei O(n log n):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Für n = 10 000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2.15%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Bei </a:t>
                </a:r>
                <a:r>
                  <a:rPr lang="en-US" dirty="0" err="1"/>
                  <a:t>jeder</a:t>
                </a:r>
                <a:r>
                  <a:rPr lang="en-US" dirty="0"/>
                  <a:t> Ebene </a:t>
                </a:r>
                <a:r>
                  <a:rPr lang="en-US" dirty="0" err="1"/>
                  <a:t>verdoppelt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ungefähr</a:t>
                </a:r>
                <a:r>
                  <a:rPr lang="en-US" dirty="0"/>
                  <a:t> die </a:t>
                </a:r>
                <a:r>
                  <a:rPr lang="en-US" dirty="0" err="1"/>
                  <a:t>Anzahl</a:t>
                </a:r>
                <a:r>
                  <a:rPr lang="en-US" dirty="0"/>
                  <a:t> der </a:t>
                </a:r>
                <a:r>
                  <a:rPr lang="en-US" dirty="0" err="1"/>
                  <a:t>möglichen</a:t>
                </a:r>
                <a:r>
                  <a:rPr lang="en-US" dirty="0"/>
                  <a:t> Knoten. Nach h Ebenen </a:t>
                </a:r>
                <a:r>
                  <a:rPr lang="en-US" dirty="0" err="1"/>
                  <a:t>gibt</a:t>
                </a:r>
                <a:r>
                  <a:rPr lang="en-US" dirty="0"/>
                  <a:t> es </a:t>
                </a:r>
                <a:r>
                  <a:rPr lang="en-US" dirty="0" err="1"/>
                  <a:t>ungefähr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Bei </a:t>
                </a:r>
                <a:r>
                  <a:rPr lang="en-US" dirty="0" err="1"/>
                  <a:t>insgesamt</a:t>
                </a:r>
                <a:r>
                  <a:rPr lang="en-US" dirty="0"/>
                  <a:t> n Knoten: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32BAD959-FABF-0046-A5B8-F82889AA5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91" y="1316624"/>
                <a:ext cx="4339215" cy="4945087"/>
              </a:xfrm>
              <a:prstGeom prst="rect">
                <a:avLst/>
              </a:prstGeom>
              <a:blipFill>
                <a:blip r:embed="rId3"/>
                <a:stretch>
                  <a:fillRect l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18043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1296</TotalTime>
  <Words>297</Words>
  <Application>Microsoft Macintosh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AKIRAEXPANDED-SUPERBOLD</vt:lpstr>
      <vt:lpstr>Arial</vt:lpstr>
      <vt:lpstr>Cambria Math</vt:lpstr>
      <vt:lpstr>Neue Haas Grotesk Text Pro</vt:lpstr>
      <vt:lpstr>Wingdings</vt:lpstr>
      <vt:lpstr>Helena</vt:lpstr>
      <vt:lpstr>Heap-Sort</vt:lpstr>
      <vt:lpstr>Grundlagen</vt:lpstr>
      <vt:lpstr>Funktionsweise</vt:lpstr>
      <vt:lpstr>Code</vt:lpstr>
      <vt:lpstr>Laufzeit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FRONTHALER Samuel, SchülerIn</dc:creator>
  <cp:lastModifiedBy>FRONTHALER Samuel, SchülerIn</cp:lastModifiedBy>
  <cp:revision>13</cp:revision>
  <dcterms:created xsi:type="dcterms:W3CDTF">2026-10-06T09:29:59Z</dcterms:created>
  <dcterms:modified xsi:type="dcterms:W3CDTF">2026-10-07T08:43:48Z</dcterms:modified>
</cp:coreProperties>
</file>