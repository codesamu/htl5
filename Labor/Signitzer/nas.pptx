
<file path=[Content_Types].xml><?xml version="1.0" encoding="utf-8"?>
<Types xmlns="http://schemas.openxmlformats.org/package/2006/content-types">
  <Default Extension="jpeg" ContentType="image/jpeg"/>
  <Default Extension="jpg" ContentType="image/jpe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4" r:id="rId1"/>
  </p:sldMasterIdLst>
  <p:notesMasterIdLst>
    <p:notesMasterId r:id="rId15"/>
  </p:notesMasterIdLst>
  <p:sldIdLst>
    <p:sldId id="256" r:id="rId2"/>
    <p:sldId id="268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CECD"/>
    <a:srgbClr val="C834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17"/>
    <p:restoredTop sz="94744"/>
  </p:normalViewPr>
  <p:slideViewPr>
    <p:cSldViewPr snapToGrid="0">
      <p:cViewPr varScale="1">
        <p:scale>
          <a:sx n="106" d="100"/>
          <a:sy n="106" d="100"/>
        </p:scale>
        <p:origin x="192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1320EB-700D-2847-ABD6-D3193E225C15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68E073-1D8D-4141-BE1A-C4A09C782C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446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1033272"/>
            <a:ext cx="5892073" cy="389534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40" y="5733288"/>
            <a:ext cx="5892071" cy="7955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31152" y="793817"/>
            <a:ext cx="5260848" cy="6064181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38587" y="207982"/>
            <a:ext cx="2662798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6B72D43-BA5D-3B49-95C6-2FCF1247D35F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2C2C7B-6B47-4A5B-B24C-B316964ABE62}"/>
              </a:ext>
            </a:extLst>
          </p:cNvPr>
          <p:cNvCxnSpPr>
            <a:cxnSpLocks/>
          </p:cNvCxnSpPr>
          <p:nvPr/>
        </p:nvCxnSpPr>
        <p:spPr>
          <a:xfrm flipV="1">
            <a:off x="6929823" y="789558"/>
            <a:ext cx="0" cy="606844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2355F-80FD-3956-F8D4-9DF4073D0E2E}"/>
              </a:ext>
            </a:extLst>
          </p:cNvPr>
          <p:cNvCxnSpPr>
            <a:cxnSpLocks/>
          </p:cNvCxnSpPr>
          <p:nvPr/>
        </p:nvCxnSpPr>
        <p:spPr>
          <a:xfrm>
            <a:off x="0" y="5420250"/>
            <a:ext cx="6929823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D4DD8B2-0D73-EB9B-9708-67DF28E40F96}"/>
              </a:ext>
            </a:extLst>
          </p:cNvPr>
          <p:cNvCxnSpPr>
            <a:cxnSpLocks/>
          </p:cNvCxnSpPr>
          <p:nvPr/>
        </p:nvCxnSpPr>
        <p:spPr>
          <a:xfrm>
            <a:off x="0" y="791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56604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12648"/>
            <a:ext cx="11253668" cy="1106424"/>
          </a:xfrm>
        </p:spPr>
        <p:txBody>
          <a:bodyPr/>
          <a:lstStyle>
            <a:lvl1pPr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9" y="2139696"/>
            <a:ext cx="11253668" cy="42885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D457B6E-DC25-9A54-64F7-98703149B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49DF708-DA4E-D117-5CE8-7401A836F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12DD6-B2CC-064C-9293-967BC903FFD1}" type="datetime1">
              <a:rPr lang="en-US" smtClean="0"/>
              <a:t>10/20/26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1AE2728-8254-BE0F-89AB-2D5352D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93DFD8D-B66E-C844-B523-E3C51265F5EA}"/>
              </a:ext>
            </a:extLst>
          </p:cNvPr>
          <p:cNvCxnSpPr>
            <a:cxnSpLocks/>
          </p:cNvCxnSpPr>
          <p:nvPr/>
        </p:nvCxnSpPr>
        <p:spPr>
          <a:xfrm>
            <a:off x="0" y="1805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5375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223554"/>
            <a:ext cx="11430000" cy="914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6083090"/>
            <a:ext cx="11429999" cy="5669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50694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F9E6CEDA-9C1B-F849-BFAE-AACC85909B90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ABE8472-319C-7663-7B71-2A6549DED7EF}"/>
              </a:ext>
            </a:extLst>
          </p:cNvPr>
          <p:cNvCxnSpPr>
            <a:cxnSpLocks/>
          </p:cNvCxnSpPr>
          <p:nvPr/>
        </p:nvCxnSpPr>
        <p:spPr>
          <a:xfrm>
            <a:off x="0" y="5068350"/>
            <a:ext cx="12188952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27850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758952"/>
            <a:ext cx="7589520" cy="408736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9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5404104"/>
            <a:ext cx="11515277" cy="57607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54496"/>
            <a:ext cx="296369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921742" y="6254496"/>
            <a:ext cx="167964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8CF3693-7618-774E-B6DA-9C00CA402439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54496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5C310B-ED34-BA33-630C-F8D5EB2A41A2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6B77E3C-9D50-9277-C646-D9B5AB8122BB}"/>
              </a:ext>
            </a:extLst>
          </p:cNvPr>
          <p:cNvCxnSpPr>
            <a:cxnSpLocks/>
          </p:cNvCxnSpPr>
          <p:nvPr/>
        </p:nvCxnSpPr>
        <p:spPr>
          <a:xfrm>
            <a:off x="0" y="527477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768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>
      <p:bgPr>
        <a:solidFill>
          <a:srgbClr val="C835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77CE2-4402-942B-FD26-6E29BDAB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" y="1435608"/>
            <a:ext cx="11594592" cy="5559552"/>
          </a:xfrm>
        </p:spPr>
        <p:txBody>
          <a:bodyPr anchor="b">
            <a:normAutofit/>
          </a:bodyPr>
          <a:lstStyle>
            <a:lvl1pPr>
              <a:lnSpc>
                <a:spcPct val="67000"/>
              </a:lnSpc>
              <a:defRPr sz="14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C3F3D2-CADD-A94F-6739-CCCDA6C6F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C541E-3AF5-9564-CE04-E4B86459D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8912EC5-E506-F049-8311-DE699D37371C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772A7-7F28-0EB0-D243-BCC6917DA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716D65-B11C-E9B7-66BF-88E72C5DCEBA}"/>
              </a:ext>
            </a:extLst>
          </p:cNvPr>
          <p:cNvCxnSpPr>
            <a:cxnSpLocks/>
          </p:cNvCxnSpPr>
          <p:nvPr/>
        </p:nvCxnSpPr>
        <p:spPr>
          <a:xfrm>
            <a:off x="0" y="783822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29876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Agenda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7" y="886968"/>
            <a:ext cx="11405277" cy="1170432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599C6D-D164-AA94-72F8-241C18719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4881" y="2832652"/>
            <a:ext cx="6893719" cy="3508951"/>
          </a:xfrm>
        </p:spPr>
        <p:txBody>
          <a:bodyPr anchor="t"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B50CAA-07B2-F8CA-1425-4249CE17A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0AFA5-E24D-0F4F-B5F8-444729A022BC}" type="datetime1">
              <a:rPr lang="en-US" smtClean="0"/>
              <a:t>10/20/26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DEAD866-E26E-BF23-7B5D-9F689B2FA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AC7CAE-FC19-2728-AA3B-1D2FE7879B25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11B3592-91FB-05F4-B422-A40D7CD4DE2D}"/>
              </a:ext>
            </a:extLst>
          </p:cNvPr>
          <p:cNvCxnSpPr>
            <a:cxnSpLocks/>
          </p:cNvCxnSpPr>
          <p:nvPr/>
        </p:nvCxnSpPr>
        <p:spPr>
          <a:xfrm>
            <a:off x="0" y="800100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1128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6944" y="521208"/>
            <a:ext cx="6647688" cy="1865376"/>
          </a:xfrm>
        </p:spPr>
        <p:txBody>
          <a:bodyPr>
            <a:normAutofit/>
          </a:bodyPr>
          <a:lstStyle>
            <a:lvl1pPr>
              <a:defRPr sz="8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D3A4126-4E48-DD2C-1468-6A36AE6C1D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7320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6943" y="2651760"/>
            <a:ext cx="6327648" cy="3547872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1899" y="21031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73511" y="210312"/>
            <a:ext cx="1679642" cy="411480"/>
          </a:xfrm>
        </p:spPr>
        <p:txBody>
          <a:bodyPr/>
          <a:lstStyle/>
          <a:p>
            <a:fld id="{ACCE7EE6-6FF0-2B4F-9155-7F8C995F609F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633BE4-C9B9-310C-1EAE-191B5D344B59}"/>
              </a:ext>
            </a:extLst>
          </p:cNvPr>
          <p:cNvCxnSpPr>
            <a:cxnSpLocks/>
          </p:cNvCxnSpPr>
          <p:nvPr/>
        </p:nvCxnSpPr>
        <p:spPr>
          <a:xfrm>
            <a:off x="4923916" y="2452449"/>
            <a:ext cx="7268084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A010762-96A4-4E1C-CD5D-EE1C1D1FC6E2}"/>
              </a:ext>
            </a:extLst>
          </p:cNvPr>
          <p:cNvCxnSpPr>
            <a:cxnSpLocks/>
          </p:cNvCxnSpPr>
          <p:nvPr/>
        </p:nvCxnSpPr>
        <p:spPr>
          <a:xfrm flipV="1">
            <a:off x="4923916" y="0"/>
            <a:ext cx="0" cy="685800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52581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1" y="2077374"/>
            <a:ext cx="4479107" cy="2691413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7DEB5EF-910B-9B2B-CB95-1AD374FEC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1577" y="2210542"/>
            <a:ext cx="5869293" cy="2432477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FD4BD0F-0EF0-D5B9-5485-1ECB765DC5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51577" y="207982"/>
            <a:ext cx="1921315" cy="413360"/>
          </a:xfrm>
        </p:spPr>
        <p:txBody>
          <a:bodyPr/>
          <a:lstStyle/>
          <a:p>
            <a:fld id="{37821338-61D1-564F-9AE1-A1B11918D9D9}" type="datetime1">
              <a:rPr lang="en-US" smtClean="0"/>
              <a:t>10/20/26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566B317-2D55-4797-E621-551FCA482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5311938" y="1550633"/>
            <a:ext cx="0" cy="375673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790D5D6-313A-8ACD-591F-F8BEC510B947}"/>
              </a:ext>
            </a:extLst>
          </p:cNvPr>
          <p:cNvCxnSpPr>
            <a:cxnSpLocks/>
          </p:cNvCxnSpPr>
          <p:nvPr/>
        </p:nvCxnSpPr>
        <p:spPr>
          <a:xfrm>
            <a:off x="0" y="5308844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F6F1415-3933-6D89-472D-2FA4BBB279E7}"/>
              </a:ext>
            </a:extLst>
          </p:cNvPr>
          <p:cNvCxnSpPr>
            <a:cxnSpLocks/>
          </p:cNvCxnSpPr>
          <p:nvPr/>
        </p:nvCxnSpPr>
        <p:spPr>
          <a:xfrm>
            <a:off x="0" y="155063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63901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2" y="1249959"/>
            <a:ext cx="4085912" cy="512567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5B8121-E925-2131-A76A-FBDAB0BC9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8384" y="1249959"/>
            <a:ext cx="6440424" cy="52387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BA5BEFD-7245-BB4D-0F86-F1C3A32E067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63852" y="207982"/>
            <a:ext cx="1921315" cy="413360"/>
          </a:xfrm>
        </p:spPr>
        <p:txBody>
          <a:bodyPr/>
          <a:lstStyle/>
          <a:p>
            <a:fld id="{912D8530-521E-B643-93F8-1C19DBA432E6}" type="datetime1">
              <a:rPr lang="en-US" smtClean="0"/>
              <a:t>10/20/26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5879897-4AF6-4B38-AB30-8DD979DC5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4918746" y="805343"/>
            <a:ext cx="0" cy="6052657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70116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0876" y="749808"/>
            <a:ext cx="6442024" cy="20391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0328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0875" y="21348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09227" y="210312"/>
            <a:ext cx="1679642" cy="411480"/>
          </a:xfrm>
        </p:spPr>
        <p:txBody>
          <a:bodyPr/>
          <a:lstStyle/>
          <a:p>
            <a:fld id="{F647C96A-2158-7F44-88D9-059819DE7C1E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0875" y="2944368"/>
            <a:ext cx="6442025" cy="35716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10328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9877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0308" y="612648"/>
            <a:ext cx="7022592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342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D81791C-036D-058C-0055-96793694D6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750307" y="210312"/>
            <a:ext cx="3531437" cy="4133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A8DE5B-9C41-DE5B-BF91-98510120DCF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582299" y="210312"/>
            <a:ext cx="1679642" cy="413360"/>
          </a:xfrm>
        </p:spPr>
        <p:txBody>
          <a:bodyPr/>
          <a:lstStyle/>
          <a:p>
            <a:fld id="{E5816D1C-E500-004D-AB29-EC9207172E94}" type="datetime1">
              <a:rPr lang="en-US" smtClean="0"/>
              <a:t>10/20/26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E0FD979-F905-C567-8E21-A3EDCE17980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0307" y="1746503"/>
            <a:ext cx="7022592" cy="4806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345760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23368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612648"/>
            <a:ext cx="7015483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B59EF2B-7C7F-BA27-16C2-C56B21D3774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A99D216-CE5A-6458-A23E-BE0E554AC3D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224951" y="207982"/>
            <a:ext cx="1682496" cy="413360"/>
          </a:xfrm>
        </p:spPr>
        <p:txBody>
          <a:bodyPr/>
          <a:lstStyle/>
          <a:p>
            <a:fld id="{4351F9C4-4AF2-184B-A166-05E6F8D7E559}" type="datetime1">
              <a:rPr lang="en-US" smtClean="0"/>
              <a:t>10/20/26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220FA64-3C9A-EBCF-5C28-E7DED40C97D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789594" y="207982"/>
            <a:ext cx="546447" cy="413360"/>
          </a:xfrm>
        </p:spPr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746504"/>
            <a:ext cx="7018271" cy="48066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73592" y="0"/>
            <a:ext cx="4417215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776883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62748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3" y="749808"/>
            <a:ext cx="5778227" cy="10332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969163" y="210312"/>
            <a:ext cx="1679642" cy="411480"/>
          </a:xfrm>
        </p:spPr>
        <p:txBody>
          <a:bodyPr/>
          <a:lstStyle/>
          <a:p>
            <a:fld id="{86740345-D871-F24D-8F6E-8FD689FF02DD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14093" y="210312"/>
            <a:ext cx="546447" cy="413360"/>
          </a:xfrm>
        </p:spPr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993391"/>
            <a:ext cx="5778227" cy="455980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575416" y="0"/>
            <a:ext cx="5616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F4034EB-F498-D527-195A-D17B85027774}"/>
              </a:ext>
            </a:extLst>
          </p:cNvPr>
          <p:cNvCxnSpPr>
            <a:cxnSpLocks/>
          </p:cNvCxnSpPr>
          <p:nvPr/>
        </p:nvCxnSpPr>
        <p:spPr>
          <a:xfrm>
            <a:off x="6570629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430093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749808"/>
            <a:ext cx="4123680" cy="151790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210312"/>
            <a:ext cx="2260057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29329" y="210312"/>
            <a:ext cx="1058111" cy="411480"/>
          </a:xfrm>
        </p:spPr>
        <p:txBody>
          <a:bodyPr/>
          <a:lstStyle/>
          <a:p>
            <a:fld id="{329BAFED-0987-B148-8EF6-25462DE142D8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010197" y="210312"/>
            <a:ext cx="440969" cy="413360"/>
          </a:xfrm>
        </p:spPr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704" y="2578609"/>
            <a:ext cx="4130606" cy="37124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12658" y="0"/>
            <a:ext cx="7279341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0796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39334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49808"/>
            <a:ext cx="11514755" cy="9601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8890DBE-0DD3-8504-F95F-4225535FB1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4BB28A-95D9-4CE6-DA59-520BA3C61CD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A42172A-63D9-784B-8592-9795E97B9426}" type="datetime1">
              <a:rPr lang="en-US" smtClean="0"/>
              <a:t>10/20/26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1FA0A0C-CE55-CB7D-174D-D77937630A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2180556"/>
            <a:ext cx="5012355" cy="42842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822674" y="1834524"/>
            <a:ext cx="6378722" cy="50234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C753443-12E2-4CD3-2C6F-4E20536BA82B}"/>
              </a:ext>
            </a:extLst>
          </p:cNvPr>
          <p:cNvCxnSpPr>
            <a:cxnSpLocks/>
          </p:cNvCxnSpPr>
          <p:nvPr/>
        </p:nvCxnSpPr>
        <p:spPr>
          <a:xfrm>
            <a:off x="5816454" y="1827254"/>
            <a:ext cx="0" cy="504063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9B4AF9B-8CF3-D7A8-CDB9-8E513FFF57EC}"/>
              </a:ext>
            </a:extLst>
          </p:cNvPr>
          <p:cNvCxnSpPr>
            <a:cxnSpLocks/>
          </p:cNvCxnSpPr>
          <p:nvPr/>
        </p:nvCxnSpPr>
        <p:spPr>
          <a:xfrm>
            <a:off x="0" y="1827254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41732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5166364"/>
            <a:ext cx="3656530" cy="12234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8096" cy="48371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9121" y="5166364"/>
            <a:ext cx="7073776" cy="1223420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437376"/>
            <a:ext cx="2962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99121" y="6437193"/>
            <a:ext cx="4549413" cy="365125"/>
          </a:xfrm>
        </p:spPr>
        <p:txBody>
          <a:bodyPr/>
          <a:lstStyle/>
          <a:p>
            <a:fld id="{ACC6E5A7-75EB-7C45-B4D2-719397952AC1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437376"/>
            <a:ext cx="546447" cy="413360"/>
          </a:xfrm>
        </p:spPr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F9F6E2-159F-CDF3-F2D3-AB7A7E505C0B}"/>
              </a:ext>
            </a:extLst>
          </p:cNvPr>
          <p:cNvCxnSpPr>
            <a:cxnSpLocks/>
          </p:cNvCxnSpPr>
          <p:nvPr/>
        </p:nvCxnSpPr>
        <p:spPr>
          <a:xfrm>
            <a:off x="4283425" y="4837176"/>
            <a:ext cx="0" cy="202082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D4F9120-94C1-CA43-BF4E-9411F4866A20}"/>
              </a:ext>
            </a:extLst>
          </p:cNvPr>
          <p:cNvCxnSpPr>
            <a:cxnSpLocks/>
          </p:cNvCxnSpPr>
          <p:nvPr/>
        </p:nvCxnSpPr>
        <p:spPr>
          <a:xfrm>
            <a:off x="-1250" y="4842106"/>
            <a:ext cx="1219325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6758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62002"/>
            <a:ext cx="6612786" cy="1555895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A2AC736-2858-40E1-3533-38692573EC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6F901C69-26AA-7830-9BFF-EC62E8208AB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2699895-17F2-C544-8033-BCDE9615AD47}" type="datetime1">
              <a:rPr lang="en-US" smtClean="0"/>
              <a:t>10/20/26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83EC4C7-2AFC-9797-0F80-FCBABD2A856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6627" y="2435966"/>
            <a:ext cx="7283725" cy="4422032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068" y="762000"/>
            <a:ext cx="4092813" cy="579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F70BF-1865-3761-955D-0621AA22B818}"/>
              </a:ext>
            </a:extLst>
          </p:cNvPr>
          <p:cNvCxnSpPr>
            <a:cxnSpLocks/>
          </p:cNvCxnSpPr>
          <p:nvPr/>
        </p:nvCxnSpPr>
        <p:spPr>
          <a:xfrm>
            <a:off x="0" y="2435966"/>
            <a:ext cx="72771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638DF4A-7DDF-7C24-D39A-EA7EAF7CFE63}"/>
              </a:ext>
            </a:extLst>
          </p:cNvPr>
          <p:cNvCxnSpPr>
            <a:cxnSpLocks/>
          </p:cNvCxnSpPr>
          <p:nvPr/>
        </p:nvCxnSpPr>
        <p:spPr>
          <a:xfrm>
            <a:off x="7277100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78362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448056"/>
            <a:ext cx="11514759" cy="1124712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B0D52B6B-FBA1-3D41-BE3F-1E681CA82455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07982"/>
            <a:ext cx="546447" cy="411480"/>
          </a:xfrm>
        </p:spPr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3614" y="1700784"/>
            <a:ext cx="3318170" cy="515721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1441" y="2130553"/>
            <a:ext cx="7971459" cy="4422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47961-3E7C-FAAC-2283-DA751A80201C}"/>
              </a:ext>
            </a:extLst>
          </p:cNvPr>
          <p:cNvCxnSpPr>
            <a:cxnSpLocks/>
          </p:cNvCxnSpPr>
          <p:nvPr/>
        </p:nvCxnSpPr>
        <p:spPr>
          <a:xfrm>
            <a:off x="0" y="1695518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4B3C03-E31F-77F7-02F0-8C25E1C62792}"/>
              </a:ext>
            </a:extLst>
          </p:cNvPr>
          <p:cNvCxnSpPr>
            <a:cxnSpLocks/>
          </p:cNvCxnSpPr>
          <p:nvPr/>
        </p:nvCxnSpPr>
        <p:spPr>
          <a:xfrm>
            <a:off x="3318170" y="1695518"/>
            <a:ext cx="0" cy="516248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57422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umber Larg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71232" y="1188720"/>
            <a:ext cx="4069080" cy="4480560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28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8056" y="1609344"/>
            <a:ext cx="6775704" cy="415137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lnSpc>
                <a:spcPct val="70000"/>
              </a:lnSpc>
              <a:buNone/>
              <a:defRPr lang="en-US" sz="33400" dirty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2pPr>
            <a:lvl3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3pPr>
            <a:lvl4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4pPr>
            <a:lvl5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 dirty="0"/>
              <a:t>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9B980D8-C2DB-5943-A824-F23620C3BF96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4144DB-F44E-C5EB-68A1-D39E3F401C4E}"/>
              </a:ext>
            </a:extLst>
          </p:cNvPr>
          <p:cNvCxnSpPr>
            <a:cxnSpLocks/>
          </p:cNvCxnSpPr>
          <p:nvPr/>
        </p:nvCxnSpPr>
        <p:spPr>
          <a:xfrm>
            <a:off x="0" y="6069441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760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17773" y="914400"/>
            <a:ext cx="10045427" cy="4464554"/>
          </a:xfrm>
        </p:spPr>
        <p:txBody>
          <a:bodyPr anchor="ctr">
            <a:noAutofit/>
          </a:bodyPr>
          <a:lstStyle>
            <a:lvl1pPr marL="0" indent="0">
              <a:lnSpc>
                <a:spcPct val="75000"/>
              </a:lnSpc>
              <a:buNone/>
              <a:defRPr sz="8800" b="0">
                <a:solidFill>
                  <a:schemeClr val="tx2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8000" b="0">
                <a:solidFill>
                  <a:schemeClr val="tx2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7200" b="0">
                <a:solidFill>
                  <a:schemeClr val="tx2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6600" b="0">
                <a:solidFill>
                  <a:schemeClr val="tx2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6000" b="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63640"/>
            <a:ext cx="2963692" cy="41336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0069" y="6263640"/>
            <a:ext cx="1921315" cy="413360"/>
          </a:xfrm>
        </p:spPr>
        <p:txBody>
          <a:bodyPr/>
          <a:lstStyle/>
          <a:p>
            <a:fld id="{5F93A49F-D0A5-074B-82F6-E3EB5548037F}" type="datetime1">
              <a:rPr lang="en-US" smtClean="0"/>
              <a:t>10/20/26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A935D4C-A027-60A0-BEB8-B1A89C1C5E3A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43786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Quot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3232" y="5440220"/>
            <a:ext cx="9299448" cy="1015996"/>
          </a:xfrm>
        </p:spPr>
        <p:txBody>
          <a:bodyPr anchor="ctr">
            <a:normAutofit/>
          </a:bodyPr>
          <a:lstStyle>
            <a:lvl1pPr>
              <a:defRPr sz="20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0040" y="1170816"/>
            <a:ext cx="9692640" cy="3872159"/>
          </a:xfrm>
        </p:spPr>
        <p:txBody>
          <a:bodyPr>
            <a:normAutofit/>
          </a:bodyPr>
          <a:lstStyle>
            <a:lvl1pPr marL="274320" indent="-274320">
              <a:lnSpc>
                <a:spcPct val="70000"/>
              </a:lnSpc>
              <a:buNone/>
              <a:defRPr sz="8800" cap="all" baseline="0">
                <a:solidFill>
                  <a:schemeClr val="tx2"/>
                </a:solidFill>
                <a:latin typeface="+mj-lt"/>
              </a:defRPr>
            </a:lvl1pPr>
            <a:lvl2pPr marL="274320" indent="-274320">
              <a:lnSpc>
                <a:spcPct val="70000"/>
              </a:lnSpc>
              <a:buNone/>
              <a:defRPr sz="80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2pPr>
            <a:lvl3pPr marL="274320" indent="-274320">
              <a:lnSpc>
                <a:spcPct val="70000"/>
              </a:lnSpc>
              <a:buNone/>
              <a:defRPr sz="72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3pPr>
            <a:lvl4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4pPr>
            <a:lvl5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2443788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41E51DE-27AC-3A47-BFDE-F1C3534E2412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60C7B9-B6D9-6FB6-59EE-D9DB3BC93758}"/>
              </a:ext>
            </a:extLst>
          </p:cNvPr>
          <p:cNvCxnSpPr>
            <a:cxnSpLocks/>
          </p:cNvCxnSpPr>
          <p:nvPr/>
        </p:nvCxnSpPr>
        <p:spPr>
          <a:xfrm flipH="1">
            <a:off x="0" y="787179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15D9130-12F6-DFB8-70EF-9ACBA9FDECB0}"/>
              </a:ext>
            </a:extLst>
          </p:cNvPr>
          <p:cNvCxnSpPr>
            <a:cxnSpLocks/>
          </p:cNvCxnSpPr>
          <p:nvPr/>
        </p:nvCxnSpPr>
        <p:spPr>
          <a:xfrm>
            <a:off x="0" y="5274530"/>
            <a:ext cx="12192000" cy="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51002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594AB-EF90-9591-5954-F617B83D1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85800"/>
            <a:ext cx="11253668" cy="66569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6A57BED-3AFE-6AA9-E0D5-586748D61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C21221-DC95-273B-0C4F-43B35ADA1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80CA6-509B-FD4E-9501-D89A8260B11E}" type="datetime1">
              <a:rPr lang="en-US" smtClean="0"/>
              <a:t>10/20/26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44E859-99AA-D46F-1AD8-4C0F287F3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3231F-0FFC-E2BB-36F8-9816E4DECE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7773" y="1773857"/>
            <a:ext cx="5349240" cy="44531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CC2C1-ED8C-D52E-BEF5-671EDC6238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24987" y="1773858"/>
            <a:ext cx="5349240" cy="44531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397169B-5226-712F-36F4-352E56B637D4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8745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4958D-8125-1BDA-53C9-9E2D33883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2" y="685800"/>
            <a:ext cx="11256264" cy="6675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294A4A-89C4-68BF-6701-5C47F940E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908BC-F48B-81E4-8D93-7DB9E3716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B6994-B2A9-AD48-B10A-D87C76408019}" type="datetime1">
              <a:rPr lang="en-US" smtClean="0"/>
              <a:t>10/20/26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93A54-CB38-BEAF-260B-84EDDF301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9FF10-A82A-AAEB-4B8C-921F3BA20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7773" y="1773857"/>
            <a:ext cx="5349064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D3C6A-509A-8CB1-B220-1CE755BE2F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7773" y="2368476"/>
            <a:ext cx="5349064" cy="38587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627A15-4AB2-F230-22C7-0605AFD7D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24796" y="1773857"/>
            <a:ext cx="5349240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1ECFD5-92D0-1854-D18E-8BC5DF56A7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24796" y="2368476"/>
            <a:ext cx="5349240" cy="38587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1AC07E-A077-E2A6-1718-DDDA542A8A98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91830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17042-CDCB-3B2F-8C5B-24B17903E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A4C6AE-702E-258F-EA5E-02906C70D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339AE3-ADB1-728F-9FBA-2FD43A0AC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90E7A-BD02-FE4F-8CAA-CA5C95875A6E}" type="datetime1">
              <a:rPr lang="en-US" smtClean="0"/>
              <a:t>10/20/26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965F4B-E6CF-D83A-1F1B-81274FD57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18930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E52550-02A6-D7FB-DD57-70C87BAA4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02D272-B561-7F82-06FB-C5DE719AA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07C73-D2F8-5540-BD8D-5C55E0D9E751}" type="datetime1">
              <a:rPr lang="en-US" smtClean="0"/>
              <a:t>10/20/26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F0FF0-3A36-A128-D75E-71A4B54CB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92345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8A45ECA-9413-0F81-085A-48CF6F23E1DC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tx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832104"/>
            <a:ext cx="11253668" cy="1225296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263640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1" y="6263640"/>
            <a:ext cx="1933553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EC0B939-2593-524E-A78B-769214754612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7" y="3429001"/>
            <a:ext cx="11253669" cy="277354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33429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60" y="1270390"/>
            <a:ext cx="7929980" cy="2060888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5" y="3794761"/>
            <a:ext cx="7932765" cy="15310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C8E2D1BA-CD02-6841-A0F8-609B605EE1BD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4D168F9-DE00-B9C1-AD77-139DA8AF3364}"/>
              </a:ext>
            </a:extLst>
          </p:cNvPr>
          <p:cNvCxnSpPr>
            <a:cxnSpLocks/>
          </p:cNvCxnSpPr>
          <p:nvPr/>
        </p:nvCxnSpPr>
        <p:spPr>
          <a:xfrm>
            <a:off x="0" y="3434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87336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398EFF-E3C5-E79D-1BD3-016E84949F9C}"/>
              </a:ext>
            </a:extLst>
          </p:cNvPr>
          <p:cNvCxnSpPr>
            <a:cxnSpLocks/>
          </p:cNvCxnSpPr>
          <p:nvPr/>
        </p:nvCxnSpPr>
        <p:spPr>
          <a:xfrm>
            <a:off x="0" y="789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478947-1D67-18A4-7E48-5B4B2F97F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935798"/>
            <a:ext cx="11253668" cy="66569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E08CA-9517-ABC1-E915-31EA6D7B7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0559" y="1707581"/>
            <a:ext cx="11253668" cy="48483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3983D-E783-AAEC-26DB-4B3F6511C7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7773" y="207982"/>
            <a:ext cx="2963692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54426-0A97-D20B-FD06-9648AED777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80069" y="207982"/>
            <a:ext cx="1921315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fld id="{6415076E-E234-C14F-8A5C-1CFA8A6E30AD}" type="datetime1">
              <a:rPr lang="en-US" smtClean="0"/>
              <a:t>10/20/26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13386-8E2A-2962-4804-81558038BA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8870" y="207982"/>
            <a:ext cx="546447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850" b="1" cap="all" baseline="0">
                <a:solidFill>
                  <a:schemeClr val="tx2"/>
                </a:solidFill>
              </a:defRPr>
            </a:lvl1pPr>
          </a:lstStyle>
          <a:p>
            <a:fld id="{C0D0E01E-7608-4E47-B545-5FF4C235404B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143C14-E680-3360-0E4D-DA502AF50E8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978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Classified as Microsoft Confidential</a:t>
            </a:r>
          </a:p>
        </p:txBody>
      </p:sp>
    </p:spTree>
    <p:extLst>
      <p:ext uri="{BB962C8B-B14F-4D97-AF65-F5344CB8AC3E}">
        <p14:creationId xmlns:p14="http://schemas.microsoft.com/office/powerpoint/2010/main" val="7086489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  <p:sldLayoutId id="2147483756" r:id="rId12"/>
    <p:sldLayoutId id="2147483757" r:id="rId13"/>
    <p:sldLayoutId id="2147483758" r:id="rId14"/>
    <p:sldLayoutId id="2147483759" r:id="rId15"/>
    <p:sldLayoutId id="2147483760" r:id="rId16"/>
    <p:sldLayoutId id="2147483761" r:id="rId17"/>
    <p:sldLayoutId id="2147483762" r:id="rId18"/>
    <p:sldLayoutId id="2147483763" r:id="rId19"/>
    <p:sldLayoutId id="2147483764" r:id="rId20"/>
    <p:sldLayoutId id="2147483765" r:id="rId21"/>
    <p:sldLayoutId id="2147483766" r:id="rId22"/>
    <p:sldLayoutId id="2147483767" r:id="rId23"/>
    <p:sldLayoutId id="2147483768" r:id="rId24"/>
    <p:sldLayoutId id="2147483769" r:id="rId25"/>
    <p:sldLayoutId id="2147483770" r:id="rId26"/>
    <p:sldLayoutId id="2147483771" r:id="rId27"/>
  </p:sldLayoutIdLst>
  <p:hf hdr="0" ftr="0" dt="0"/>
  <p:txStyles>
    <p:titleStyle>
      <a:lvl1pPr algn="l" defTabSz="914400" rtl="0" eaLnBrk="1" latinLnBrk="0" hangingPunct="1">
        <a:lnSpc>
          <a:spcPct val="70000"/>
        </a:lnSpc>
        <a:spcBef>
          <a:spcPct val="0"/>
        </a:spcBef>
        <a:buNone/>
        <a:defRPr sz="4000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80">
          <p15:clr>
            <a:srgbClr val="F26B43"/>
          </p15:clr>
        </p15:guide>
        <p15:guide id="2" pos="264">
          <p15:clr>
            <a:srgbClr val="F26B43"/>
          </p15:clr>
        </p15:guide>
        <p15:guide id="3" pos="7416">
          <p15:clr>
            <a:srgbClr val="F26B43"/>
          </p15:clr>
        </p15:guide>
        <p15:guide id="4" orient="horz" pos="3816">
          <p15:clr>
            <a:srgbClr val="F26B43"/>
          </p15:clr>
        </p15:guide>
        <p15:guide id="5" pos="7200">
          <p15:clr>
            <a:srgbClr val="F26B43"/>
          </p15:clr>
        </p15:guide>
        <p15:guide id="6" pos="504">
          <p15:clr>
            <a:srgbClr val="F26B43"/>
          </p15:clr>
        </p15:guide>
        <p15:guide id="7" orient="horz" pos="4128">
          <p15:clr>
            <a:srgbClr val="F26B43"/>
          </p15:clr>
        </p15:guide>
        <p15:guide id="8" orient="horz" pos="1056">
          <p15:clr>
            <a:srgbClr val="F26B43"/>
          </p15:clr>
        </p15:guide>
        <p15:guide id="9" pos="45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org&amp;utm_campaign=index&amp;utm_content=thumbnail"/><Relationship Id="rId2" Type="http://schemas.openxmlformats.org/officeDocument/2006/relationships/image" Target="../media/image13.org&amp;utm_campaign=index&amp;utm_content=thumbnai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eizhals.at/western-digital-wd-red-plus-2tb-wd20efpx-a2961282.html" TargetMode="External"/><Relationship Id="rId2" Type="http://schemas.openxmlformats.org/officeDocument/2006/relationships/hyperlink" Target="https://geizhals.at/synology-diskstation-ds223j-a2975801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ebay.de/p/83311498" TargetMode="External"/><Relationship Id="rId5" Type="http://schemas.openxmlformats.org/officeDocument/2006/relationships/hyperlink" Target="https://www.willhaben.at/iad/kaufen-und-verkaufen/d/hp-compaq-elite-8300-cmt-i5-3570-8gb-ram-128-ssd-1tb-windows-10-pro-sofort-einsatzbereit-1141277814/" TargetMode="External"/><Relationship Id="rId4" Type="http://schemas.openxmlformats.org/officeDocument/2006/relationships/hyperlink" Target="https://www.willhaben.at/iad/kaufen-und-verkaufen/d/hp-compaq-pro-6300-microtower-i5-3570-8-gb-ram-ssd-hdd-174761768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A6808-E4EB-766A-0193-0438C161F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758952"/>
            <a:ext cx="8379117" cy="4087368"/>
          </a:xfrm>
        </p:spPr>
        <p:txBody>
          <a:bodyPr/>
          <a:lstStyle/>
          <a:p>
            <a:r>
              <a:rPr lang="de-AT" sz="16600" noProof="0" dirty="0" err="1"/>
              <a:t>nAS</a:t>
            </a:r>
            <a:br>
              <a:rPr lang="de-AT" noProof="0" dirty="0"/>
            </a:br>
            <a:r>
              <a:rPr lang="de-AT" noProof="0" dirty="0" err="1"/>
              <a:t>Proxmox</a:t>
            </a:r>
            <a:r>
              <a:rPr lang="de-AT" noProof="0" dirty="0"/>
              <a:t> + </a:t>
            </a:r>
            <a:r>
              <a:rPr lang="de-AT" noProof="0" dirty="0" err="1"/>
              <a:t>Truenas</a:t>
            </a:r>
            <a:endParaRPr lang="de-AT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E8FED8-9BAD-28F5-46EA-56CAD929B0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AT" noProof="0" dirty="0"/>
              <a:t>Samuel Fronthaler, Maximilian Glatz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79E24-BC00-9547-1994-AC5A2CFB1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916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457BB94-6C0B-0068-D8BB-722CFD7AC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WAS </a:t>
            </a:r>
            <a:r>
              <a:rPr lang="en-US" dirty="0" err="1"/>
              <a:t>ist</a:t>
            </a:r>
            <a:r>
              <a:rPr lang="en-US" dirty="0"/>
              <a:t> </a:t>
            </a:r>
            <a:r>
              <a:rPr lang="en-US" dirty="0" err="1"/>
              <a:t>ein</a:t>
            </a:r>
            <a:r>
              <a:rPr lang="en-US" dirty="0"/>
              <a:t> NAS?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6C7CA8-F903-8D6C-B9C8-C5B94D75DD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Network attached storage</a:t>
            </a:r>
          </a:p>
          <a:p>
            <a:r>
              <a:rPr lang="en-US" dirty="0" err="1"/>
              <a:t>Datenserver</a:t>
            </a:r>
            <a:endParaRPr lang="en-US" dirty="0"/>
          </a:p>
          <a:p>
            <a:r>
              <a:rPr lang="en-US" dirty="0"/>
              <a:t>Backups</a:t>
            </a:r>
          </a:p>
          <a:p>
            <a:r>
              <a:rPr lang="en-US"/>
              <a:t>Raid-Systeme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70938F-136B-B9F6-54AB-E2D6EA017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9F91517-9BBE-15B6-1A7D-20ABB2EE12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7" y="1743964"/>
            <a:ext cx="42418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828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02B2A6D-D443-64DF-A247-E4AA331BF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noProof="0" dirty="0"/>
              <a:t>Anforderungen / Ziele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222352-63ED-3606-B9DE-7D12CBFE3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noProof="0" dirty="0"/>
              <a:t>Mehrere User mit eigenen Privaten Ordnern</a:t>
            </a:r>
          </a:p>
          <a:p>
            <a:r>
              <a:rPr lang="de-AT" noProof="0" dirty="0"/>
              <a:t>SMB Shares</a:t>
            </a:r>
          </a:p>
          <a:p>
            <a:r>
              <a:rPr lang="de-AT" noProof="0" dirty="0"/>
              <a:t>Einfache Bedienung / Wartung</a:t>
            </a:r>
          </a:p>
          <a:p>
            <a:r>
              <a:rPr lang="de-AT" noProof="0" dirty="0"/>
              <a:t>Raid 1</a:t>
            </a:r>
          </a:p>
          <a:p>
            <a:r>
              <a:rPr lang="de-AT" noProof="0" dirty="0"/>
              <a:t>Zusätzlicher Service (</a:t>
            </a:r>
            <a:r>
              <a:rPr lang="de-AT" noProof="0" dirty="0" err="1"/>
              <a:t>Jellyfin</a:t>
            </a:r>
            <a:r>
              <a:rPr lang="de-AT" noProof="0" dirty="0"/>
              <a:t>, </a:t>
            </a:r>
            <a:r>
              <a:rPr lang="de-AT" noProof="0" dirty="0" err="1"/>
              <a:t>qbittorrent</a:t>
            </a:r>
            <a:r>
              <a:rPr lang="de-AT" noProof="0" dirty="0"/>
              <a:t>)</a:t>
            </a:r>
          </a:p>
          <a:p>
            <a:endParaRPr lang="de-AT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0D2D5-FD9B-60A1-E0C0-390C58C1C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452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Refurbished DS223j | Synology Inc.">
            <a:extLst>
              <a:ext uri="{FF2B5EF4-FFF2-40B4-BE49-F238E27FC236}">
                <a16:creationId xmlns:a16="http://schemas.microsoft.com/office/drawing/2014/main" id="{10EE214B-E713-AB38-6C72-250E7EA02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8556" y="4828061"/>
            <a:ext cx="4114283" cy="215314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FEAA00B-FDB6-608D-F1CF-E2938B40D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noProof="0" dirty="0"/>
              <a:t>Vergleich DIY / Fertiges NAS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A42C3-1DE0-21F2-2F0A-BFB45A81D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AT" noProof="0" dirty="0"/>
          </a:p>
          <a:p>
            <a:pPr marL="0" indent="0">
              <a:buNone/>
            </a:pPr>
            <a:endParaRPr lang="de-AT" noProof="0" dirty="0"/>
          </a:p>
          <a:p>
            <a:pPr marL="0" indent="0">
              <a:buNone/>
            </a:pPr>
            <a:endParaRPr lang="de-AT" noProof="0" dirty="0"/>
          </a:p>
          <a:p>
            <a:pPr marL="0" indent="0">
              <a:buNone/>
            </a:pPr>
            <a:endParaRPr lang="de-AT" noProof="0" dirty="0"/>
          </a:p>
          <a:p>
            <a:pPr marL="0" indent="0">
              <a:buNone/>
            </a:pPr>
            <a:endParaRPr lang="de-AT" noProof="0" dirty="0"/>
          </a:p>
          <a:p>
            <a:pPr marL="0" indent="0">
              <a:buNone/>
            </a:pPr>
            <a:endParaRPr lang="de-AT" noProof="0" dirty="0"/>
          </a:p>
          <a:p>
            <a:pPr marL="0" indent="0">
              <a:buNone/>
            </a:pPr>
            <a:endParaRPr lang="de-AT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8FF9753-9D45-1782-A863-7216EDCEDF7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7664924"/>
              </p:ext>
            </p:extLst>
          </p:nvPr>
        </p:nvGraphicFramePr>
        <p:xfrm>
          <a:off x="473413" y="2209800"/>
          <a:ext cx="5257800" cy="2819400"/>
        </p:xfrm>
        <a:graphic>
          <a:graphicData uri="http://schemas.openxmlformats.org/drawingml/2006/table">
            <a:tbl>
              <a:tblPr firstRow="1"/>
              <a:tblGrid>
                <a:gridCol w="3714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3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4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AT" sz="1725" b="1" noProof="0" dirty="0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Bestandteil</a:t>
                      </a:r>
                    </a:p>
                  </a:txBody>
                  <a:tcPr anchor="ctr">
                    <a:lnL w="6191">
                      <a:solidFill>
                        <a:srgbClr val="CBD8DD"/>
                      </a:solidFill>
                      <a:prstDash val="soli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>
                      <a:solidFill>
                        <a:srgbClr val="CBD8DD"/>
                      </a:solidFill>
                      <a:prstDash val="soli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C8340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AT" sz="1725" b="1" noProof="0" dirty="0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Preis</a:t>
                      </a:r>
                    </a:p>
                  </a:txBody>
                  <a:tcPr anchor="ctr">
                    <a:lnL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>
                      <a:solidFill>
                        <a:srgbClr val="CBD8DD"/>
                      </a:solidFill>
                      <a:prstDash val="soli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C83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AT" sz="1725" b="0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PC mit i5-3570 und 8 GB RAM</a:t>
                      </a:r>
                    </a:p>
                  </a:txBody>
                  <a:tcPr anchor="ctr">
                    <a:lnL w="6191">
                      <a:solidFill>
                        <a:srgbClr val="CBD8DD"/>
                      </a:solidFill>
                      <a:prstDash val="soli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AT" sz="1725" b="0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50–95 €</a:t>
                      </a:r>
                    </a:p>
                  </a:txBody>
                  <a:tcPr anchor="ctr">
                    <a:lnL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AT" sz="1725" b="0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 gebrauchte 320-GB-Platten</a:t>
                      </a:r>
                    </a:p>
                  </a:txBody>
                  <a:tcPr anchor="ctr">
                    <a:lnL w="6191">
                      <a:solidFill>
                        <a:srgbClr val="CBD8DD"/>
                      </a:solidFill>
                      <a:prstDash val="soli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AT" sz="1725" b="0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20–40 €</a:t>
                      </a:r>
                    </a:p>
                  </a:txBody>
                  <a:tcPr anchor="ctr">
                    <a:lnL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AT" sz="1725" b="1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Grobe Vergleichssumme</a:t>
                      </a:r>
                    </a:p>
                  </a:txBody>
                  <a:tcPr anchor="ctr">
                    <a:lnL w="6191">
                      <a:solidFill>
                        <a:srgbClr val="CBD8DD"/>
                      </a:solidFill>
                      <a:prstDash val="soli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EBCE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AT" sz="1725" b="1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70–135 €</a:t>
                      </a:r>
                    </a:p>
                  </a:txBody>
                  <a:tcPr anchor="ctr">
                    <a:lnL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EBCE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68DCA3E-F2F3-6BC6-EB57-8E05B4A5535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41199410"/>
              </p:ext>
            </p:extLst>
          </p:nvPr>
        </p:nvGraphicFramePr>
        <p:xfrm>
          <a:off x="6316427" y="2209800"/>
          <a:ext cx="5257800" cy="2819400"/>
        </p:xfrm>
        <a:graphic>
          <a:graphicData uri="http://schemas.openxmlformats.org/drawingml/2006/table">
            <a:tbl>
              <a:tblPr firstRow="1"/>
              <a:tblGrid>
                <a:gridCol w="3648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9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4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AT" sz="1725" b="1" noProof="0" dirty="0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Bestandteil</a:t>
                      </a:r>
                    </a:p>
                  </a:txBody>
                  <a:tcPr anchor="ctr">
                    <a:lnL w="6191">
                      <a:solidFill>
                        <a:srgbClr val="CBD8DD"/>
                      </a:solidFill>
                      <a:prstDash val="soli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>
                      <a:solidFill>
                        <a:srgbClr val="CBD8DD"/>
                      </a:solidFill>
                      <a:prstDash val="soli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C8340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AT" sz="1725" b="1" noProof="0" dirty="0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Preis</a:t>
                      </a:r>
                    </a:p>
                  </a:txBody>
                  <a:tcPr anchor="ctr">
                    <a:lnL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>
                      <a:solidFill>
                        <a:srgbClr val="CBD8DD"/>
                      </a:solidFill>
                      <a:prstDash val="soli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C83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AT" sz="1725" b="0" noProof="0" dirty="0" err="1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Synology</a:t>
                      </a:r>
                      <a:r>
                        <a:rPr lang="de-AT" sz="1725" b="0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DS223j</a:t>
                      </a:r>
                    </a:p>
                  </a:txBody>
                  <a:tcPr anchor="ctr">
                    <a:lnL w="6191">
                      <a:solidFill>
                        <a:srgbClr val="CBD8DD"/>
                      </a:solidFill>
                      <a:prstDash val="soli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AT" sz="1725" b="0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194,90 €</a:t>
                      </a:r>
                    </a:p>
                  </a:txBody>
                  <a:tcPr anchor="ctr">
                    <a:lnL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AT" sz="1725" b="0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 × WD </a:t>
                      </a:r>
                      <a:r>
                        <a:rPr lang="de-AT" sz="1725" b="0" noProof="0" dirty="0" err="1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Red</a:t>
                      </a:r>
                      <a:r>
                        <a:rPr lang="de-AT" sz="1725" b="0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Plus 2 TB</a:t>
                      </a:r>
                    </a:p>
                  </a:txBody>
                  <a:tcPr anchor="ctr">
                    <a:lnL w="6191">
                      <a:solidFill>
                        <a:srgbClr val="CBD8DD"/>
                      </a:solidFill>
                      <a:prstDash val="soli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AT" sz="1725" b="0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304,52 €</a:t>
                      </a:r>
                    </a:p>
                  </a:txBody>
                  <a:tcPr anchor="ctr">
                    <a:lnL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AT" sz="1725" b="1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Summe inklusive Versand</a:t>
                      </a:r>
                    </a:p>
                  </a:txBody>
                  <a:tcPr anchor="ctr">
                    <a:lnL w="6191">
                      <a:solidFill>
                        <a:srgbClr val="CBD8DD"/>
                      </a:solidFill>
                      <a:prstDash val="soli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EBCEC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AT" sz="1725" b="1" noProof="0" dirty="0">
                          <a:solidFill>
                            <a:srgbClr val="183044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499,42 €</a:t>
                      </a:r>
                    </a:p>
                  </a:txBody>
                  <a:tcPr anchor="ctr">
                    <a:lnL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191">
                      <a:solidFill>
                        <a:srgbClr val="CBD8DD"/>
                      </a:solidFill>
                      <a:prstDash val="solid"/>
                    </a:lnR>
                    <a:lnT w="6191" cap="flat" cmpd="sng" algn="ctr">
                      <a:solidFill>
                        <a:srgbClr val="CBD8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191">
                      <a:solidFill>
                        <a:srgbClr val="CBD8DD"/>
                      </a:solidFill>
                      <a:prstDash val="solid"/>
                    </a:lnB>
                    <a:solidFill>
                      <a:srgbClr val="EBCE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7F7AE-37C5-C58C-D2EE-30858B98E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6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42EF9-686A-A816-2764-C1690DC2E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noProof="0" dirty="0"/>
              <a:t>Vergleich DIY / Fertiges NAS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200D2F1-8BDC-134F-6020-15080E4E79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93789805"/>
              </p:ext>
            </p:extLst>
          </p:nvPr>
        </p:nvGraphicFramePr>
        <p:xfrm>
          <a:off x="320441" y="2353959"/>
          <a:ext cx="1125378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1262">
                  <a:extLst>
                    <a:ext uri="{9D8B030D-6E8A-4147-A177-3AD203B41FA5}">
                      <a16:colId xmlns:a16="http://schemas.microsoft.com/office/drawing/2014/main" val="2220963818"/>
                    </a:ext>
                  </a:extLst>
                </a:gridCol>
                <a:gridCol w="3751262">
                  <a:extLst>
                    <a:ext uri="{9D8B030D-6E8A-4147-A177-3AD203B41FA5}">
                      <a16:colId xmlns:a16="http://schemas.microsoft.com/office/drawing/2014/main" val="60858128"/>
                    </a:ext>
                  </a:extLst>
                </a:gridCol>
                <a:gridCol w="3751262">
                  <a:extLst>
                    <a:ext uri="{9D8B030D-6E8A-4147-A177-3AD203B41FA5}">
                      <a16:colId xmlns:a16="http://schemas.microsoft.com/office/drawing/2014/main" val="31215786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e-AT" noProof="0" dirty="0">
                        <a:solidFill>
                          <a:srgbClr val="C8340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noProof="0" dirty="0"/>
                        <a:t>DIY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noProof="0" dirty="0"/>
                        <a:t>Fertig-NAS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2292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AT" b="1" noProof="0" dirty="0"/>
                        <a:t>Software</a:t>
                      </a:r>
                    </a:p>
                  </a:txBody>
                  <a:tcPr>
                    <a:solidFill>
                      <a:srgbClr val="EBCE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noProof="0" dirty="0" err="1"/>
                        <a:t>Proxmox</a:t>
                      </a:r>
                      <a:r>
                        <a:rPr lang="de-AT" noProof="0" dirty="0"/>
                        <a:t>, </a:t>
                      </a:r>
                      <a:r>
                        <a:rPr lang="de-AT" noProof="0" dirty="0" err="1"/>
                        <a:t>TrueNAS</a:t>
                      </a:r>
                      <a:endParaRPr lang="de-AT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noProof="0" dirty="0"/>
                        <a:t>Hersteller 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4058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AT" b="1" noProof="0" dirty="0"/>
                        <a:t>Erweiterung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noProof="0" dirty="0"/>
                        <a:t>CPU/ RAM und Festplatten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noProof="0" dirty="0"/>
                        <a:t>Meist nur Festplatten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240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AT" b="1" noProof="0" dirty="0"/>
                        <a:t>Verwaltung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noProof="0" dirty="0"/>
                        <a:t>Auf sich Selbst gestellt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AT" noProof="0" dirty="0"/>
                        <a:t>Benutzerfreundlich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1209345"/>
                  </a:ext>
                </a:extLst>
              </a:tr>
            </a:tbl>
          </a:graphicData>
        </a:graphic>
      </p:graphicFrame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ACD264B-417B-DE0B-08DD-37A73C865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826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0FD5C-2CC9-E40F-1DBA-79674ED7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noProof="0" dirty="0"/>
              <a:t>Unsere Hardware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D7001-984F-43CE-08E6-58D467F901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noProof="0" dirty="0"/>
              <a:t>Intel Core i5-3570 (4 Kerne)</a:t>
            </a:r>
          </a:p>
          <a:p>
            <a:r>
              <a:rPr lang="de-AT" noProof="0" dirty="0"/>
              <a:t>9,6 GB RAM</a:t>
            </a:r>
          </a:p>
          <a:p>
            <a:r>
              <a:rPr lang="de-AT" noProof="0" dirty="0"/>
              <a:t>2x 320 GB HDD</a:t>
            </a:r>
          </a:p>
          <a:p>
            <a:r>
              <a:rPr lang="de-AT" noProof="0" dirty="0"/>
              <a:t>1x 250 GB HDD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9CD1E-7F34-A8CC-99A5-60FB7B167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323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4EE85-F580-D829-4B13-357EF609A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noProof="0" dirty="0"/>
              <a:t>Aufbau </a:t>
            </a:r>
            <a:r>
              <a:rPr lang="de-AT" noProof="0" dirty="0" err="1"/>
              <a:t>Proxmox</a:t>
            </a:r>
            <a:endParaRPr lang="de-AT" noProof="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9C3FBCA-B9AA-39A1-93A4-B4069BD50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noProof="0" dirty="0"/>
              <a:t>CPU, RAM und 250GB HDD werden aufgeteilt</a:t>
            </a:r>
          </a:p>
          <a:p>
            <a:r>
              <a:rPr lang="de-AT" noProof="0" dirty="0"/>
              <a:t>2x 320GB HDD als Speicher mit konfigurierbaren Zugriff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03CA70-F74F-8140-D487-51FAE4170F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520" y="1834524"/>
            <a:ext cx="6299030" cy="5023476"/>
          </a:xfrm>
          <a:prstGeom prst="rect">
            <a:avLst/>
          </a:prstGeom>
          <a:noFill/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575CBD0-577C-E52B-9189-523FF9053A6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7</a:t>
            </a:fld>
            <a:endParaRPr lang="en-US"/>
          </a:p>
        </p:txBody>
      </p:sp>
      <p:pic>
        <p:nvPicPr>
          <p:cNvPr id="3" name="Picture 2" descr="Proxmox Icon &amp; Logo (selfh.st) | Dashboard Icons &amp; Logos">
            <a:extLst>
              <a:ext uri="{FF2B5EF4-FFF2-40B4-BE49-F238E27FC236}">
                <a16:creationId xmlns:a16="http://schemas.microsoft.com/office/drawing/2014/main" id="{AC65BA14-6BDB-5856-5332-C7BDE53B9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2520" y="560239"/>
            <a:ext cx="1149689" cy="1149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1484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B223F16-287D-411A-C8CD-B223D8AA4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noProof="0" dirty="0"/>
              <a:t>Warum </a:t>
            </a:r>
            <a:r>
              <a:rPr lang="de-AT" noProof="0" dirty="0" err="1"/>
              <a:t>Proxmox</a:t>
            </a:r>
            <a:r>
              <a:rPr lang="de-AT" noProof="0" dirty="0"/>
              <a:t> mit </a:t>
            </a:r>
            <a:r>
              <a:rPr lang="de-AT" noProof="0" dirty="0" err="1"/>
              <a:t>Truenas</a:t>
            </a:r>
            <a:r>
              <a:rPr lang="de-AT" noProof="0" dirty="0"/>
              <a:t>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55BCF1-EAD7-301E-60E9-215796AAF5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noProof="0" dirty="0" err="1"/>
              <a:t>Proxmox</a:t>
            </a:r>
            <a:r>
              <a:rPr lang="de-AT" noProof="0" dirty="0"/>
              <a:t> wegen Kenntnissen vom eigenen Serverbau</a:t>
            </a:r>
          </a:p>
          <a:p>
            <a:r>
              <a:rPr lang="de-AT" noProof="0" dirty="0"/>
              <a:t>Zusätzliche Services mit Helper Scripts einfach installierbar</a:t>
            </a:r>
          </a:p>
          <a:p>
            <a:r>
              <a:rPr lang="de-AT" noProof="0" dirty="0"/>
              <a:t>Services sind Leicht trennbar</a:t>
            </a:r>
          </a:p>
          <a:p>
            <a:r>
              <a:rPr lang="de-AT" noProof="0" dirty="0" err="1"/>
              <a:t>TrueNAS</a:t>
            </a:r>
            <a:r>
              <a:rPr lang="de-AT" noProof="0" dirty="0"/>
              <a:t> hat eine schöne Oberfläche und ist einfach konfigurierbar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11AFFF-5229-F451-61F1-887D21EF3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8</a:t>
            </a:fld>
            <a:endParaRPr lang="en-US"/>
          </a:p>
        </p:txBody>
      </p:sp>
      <p:pic>
        <p:nvPicPr>
          <p:cNvPr id="2" name="Picture 1" descr="Proxmox Icon &amp; Logo (selfh.st) | Dashboard Icons &amp; Logos">
            <a:extLst>
              <a:ext uri="{FF2B5EF4-FFF2-40B4-BE49-F238E27FC236}">
                <a16:creationId xmlns:a16="http://schemas.microsoft.com/office/drawing/2014/main" id="{1D2B0203-C2B3-C9E1-6EAE-BDE02BCB03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773" y="4451684"/>
            <a:ext cx="1577474" cy="1577474"/>
          </a:xfrm>
          <a:prstGeom prst="rect">
            <a:avLst/>
          </a:prstGeom>
        </p:spPr>
      </p:pic>
      <p:pic>
        <p:nvPicPr>
          <p:cNvPr id="3" name="Picture 2" descr="Truenas Icon &amp; Logo | Dashboard Icons &amp; Logos">
            <a:extLst>
              <a:ext uri="{FF2B5EF4-FFF2-40B4-BE49-F238E27FC236}">
                <a16:creationId xmlns:a16="http://schemas.microsoft.com/office/drawing/2014/main" id="{0BA6FC60-B779-AE27-CD8A-DB044F0DC6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7894" y="4451684"/>
            <a:ext cx="2192421" cy="1732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0591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B61DF-3FC1-44F2-6593-9C30C4297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noProof="0" dirty="0"/>
              <a:t>Festplatten </a:t>
            </a:r>
            <a:r>
              <a:rPr lang="de-AT" noProof="0" dirty="0" err="1"/>
              <a:t>setup</a:t>
            </a:r>
            <a:endParaRPr lang="de-AT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C0929-008A-B2F3-DBCF-31456F2A6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noProof="0" dirty="0"/>
              <a:t>Alle Festplatten zuerst </a:t>
            </a:r>
            <a:r>
              <a:rPr lang="de-AT" noProof="0" dirty="0" err="1"/>
              <a:t>gewiped</a:t>
            </a:r>
            <a:endParaRPr lang="de-AT" noProof="0" dirty="0"/>
          </a:p>
          <a:p>
            <a:r>
              <a:rPr lang="de-AT" noProof="0" dirty="0" err="1"/>
              <a:t>Proxmox</a:t>
            </a:r>
            <a:r>
              <a:rPr lang="de-AT" noProof="0" dirty="0"/>
              <a:t> mit anderen Services auf einer 250GB HDD</a:t>
            </a:r>
          </a:p>
          <a:p>
            <a:r>
              <a:rPr lang="de-AT" noProof="0" dirty="0"/>
              <a:t>Raid 1 mit 2x 320GB HDD</a:t>
            </a:r>
          </a:p>
          <a:p>
            <a:endParaRPr lang="de-AT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4E097A-6A4C-C7FD-0B8F-7D7AD2841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 descr="Disc HDd Hard Download HD Transparent HQ PNG Download | FreePNGimg">
            <a:extLst>
              <a:ext uri="{FF2B5EF4-FFF2-40B4-BE49-F238E27FC236}">
                <a16:creationId xmlns:a16="http://schemas.microsoft.com/office/drawing/2014/main" id="{DBE3D5C7-A2F4-BAB3-652D-6A16C4099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559" y="3620792"/>
            <a:ext cx="3164305" cy="262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4232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C43F5-C69B-793B-9C6A-83C1F0823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noProof="0" dirty="0" err="1"/>
              <a:t>Truenas</a:t>
            </a:r>
            <a:r>
              <a:rPr lang="de-AT" noProof="0" dirty="0"/>
              <a:t> </a:t>
            </a:r>
            <a:r>
              <a:rPr lang="de-AT" noProof="0" dirty="0" err="1"/>
              <a:t>COnfig</a:t>
            </a:r>
            <a:endParaRPr lang="de-AT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11DA4-EB64-9E64-4B8F-C7AD9A5636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noProof="0" dirty="0"/>
              <a:t>ZFS Pool (2x320GB HDD)</a:t>
            </a:r>
          </a:p>
          <a:p>
            <a:r>
              <a:rPr lang="de-AT" noProof="0" dirty="0"/>
              <a:t>Eigene Datasets jeweils für Fronthaler, Glatz, </a:t>
            </a:r>
            <a:r>
              <a:rPr lang="de-AT" noProof="0" dirty="0" err="1"/>
              <a:t>Signitzer</a:t>
            </a:r>
            <a:endParaRPr lang="de-AT" noProof="0" dirty="0"/>
          </a:p>
          <a:p>
            <a:r>
              <a:rPr lang="de-AT" noProof="0" dirty="0" err="1"/>
              <a:t>Shared</a:t>
            </a:r>
            <a:r>
              <a:rPr lang="de-AT" noProof="0" dirty="0"/>
              <a:t> Dataset für alle</a:t>
            </a:r>
          </a:p>
          <a:p>
            <a:r>
              <a:rPr lang="de-AT" noProof="0" dirty="0"/>
              <a:t>SMB und NFS Share (/</a:t>
            </a:r>
            <a:r>
              <a:rPr lang="de-AT" noProof="0" dirty="0" err="1"/>
              <a:t>mnt</a:t>
            </a:r>
            <a:r>
              <a:rPr lang="de-AT" noProof="0" dirty="0"/>
              <a:t>/DATA/…) eingerichtet</a:t>
            </a:r>
          </a:p>
          <a:p>
            <a:pPr lvl="1"/>
            <a:endParaRPr lang="de-AT" noProof="0" dirty="0"/>
          </a:p>
          <a:p>
            <a:endParaRPr lang="de-AT" noProof="0" dirty="0"/>
          </a:p>
          <a:p>
            <a:endParaRPr lang="de-AT" noProof="0" dirty="0"/>
          </a:p>
          <a:p>
            <a:endParaRPr lang="de-AT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D87626-8F8F-0CF7-FEB9-783E0646F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 descr="Samba Server Icon &amp; Logo | Dashboard Icons &amp; Logos">
            <a:extLst>
              <a:ext uri="{FF2B5EF4-FFF2-40B4-BE49-F238E27FC236}">
                <a16:creationId xmlns:a16="http://schemas.microsoft.com/office/drawing/2014/main" id="{FA8B58A0-E126-4A12-B4B9-79576B8017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226" y="4437116"/>
            <a:ext cx="1772490" cy="161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4253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5C372-F4F4-7A48-C4F2-7B5F5366A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noProof="0" dirty="0"/>
              <a:t>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B4E924-E1ED-52CE-B3E9-DA9A879DC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noProof="0" dirty="0" err="1"/>
              <a:t>Jellyfin</a:t>
            </a:r>
            <a:r>
              <a:rPr lang="de-AT" noProof="0" dirty="0"/>
              <a:t> </a:t>
            </a:r>
          </a:p>
          <a:p>
            <a:pPr lvl="1"/>
            <a:r>
              <a:rPr lang="de-AT" noProof="0" dirty="0" err="1"/>
              <a:t>Unpriviledged</a:t>
            </a:r>
            <a:r>
              <a:rPr lang="de-AT" noProof="0" dirty="0"/>
              <a:t> LXC </a:t>
            </a:r>
            <a:r>
              <a:rPr lang="de-AT" noProof="0" dirty="0" err="1"/>
              <a:t>container</a:t>
            </a:r>
            <a:endParaRPr lang="de-AT" noProof="0" dirty="0"/>
          </a:p>
          <a:p>
            <a:pPr lvl="1"/>
            <a:r>
              <a:rPr lang="de-AT" noProof="0" dirty="0"/>
              <a:t>Um auf die Festplatten zugreifen zu können braucht es extra Zugriffsrechte</a:t>
            </a:r>
          </a:p>
          <a:p>
            <a:pPr marL="457200" lvl="1" indent="0">
              <a:buNone/>
            </a:pPr>
            <a:endParaRPr lang="de-AT" noProof="0" dirty="0"/>
          </a:p>
          <a:p>
            <a:r>
              <a:rPr lang="de-AT" noProof="0" dirty="0" err="1"/>
              <a:t>qBittorrent</a:t>
            </a:r>
            <a:endParaRPr lang="de-AT" noProof="0" dirty="0"/>
          </a:p>
          <a:p>
            <a:pPr lvl="1"/>
            <a:r>
              <a:rPr lang="de-AT" noProof="0" dirty="0" err="1"/>
              <a:t>Unpriviledged</a:t>
            </a:r>
            <a:r>
              <a:rPr lang="de-AT" noProof="0" dirty="0"/>
              <a:t> LXC </a:t>
            </a:r>
            <a:r>
              <a:rPr lang="de-AT" noProof="0" dirty="0" err="1"/>
              <a:t>container</a:t>
            </a:r>
            <a:endParaRPr lang="de-AT" noProof="0" dirty="0"/>
          </a:p>
          <a:p>
            <a:pPr lvl="1"/>
            <a:r>
              <a:rPr lang="de-AT" noProof="0" dirty="0"/>
              <a:t>Torrenten im Schulnetz geblockt</a:t>
            </a:r>
          </a:p>
          <a:p>
            <a:pPr marL="457200" lvl="1" indent="0">
              <a:buNone/>
            </a:pPr>
            <a:endParaRPr lang="de-AT" noProof="0" dirty="0"/>
          </a:p>
          <a:p>
            <a:r>
              <a:rPr lang="de-AT" noProof="0" dirty="0"/>
              <a:t>Installiert mit Helper Scripts</a:t>
            </a:r>
          </a:p>
          <a:p>
            <a:endParaRPr lang="de-AT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99164C-61EF-39D0-FC1D-32FC00147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 descr="File:Jellyfin - icon-transparent.svg - Wikimedia Commons">
            <a:extLst>
              <a:ext uri="{FF2B5EF4-FFF2-40B4-BE49-F238E27FC236}">
                <a16:creationId xmlns:a16="http://schemas.microsoft.com/office/drawing/2014/main" id="{5278FC50-B4EE-9AB9-FC49-4D658B53A9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579" y="1815326"/>
            <a:ext cx="1385558" cy="1385558"/>
          </a:xfrm>
          <a:prstGeom prst="rect">
            <a:avLst/>
          </a:prstGeom>
        </p:spPr>
      </p:pic>
      <p:pic>
        <p:nvPicPr>
          <p:cNvPr id="6" name="Picture 5" descr="File:New qBittorrent Logo.svg - Wikimedia Commons">
            <a:extLst>
              <a:ext uri="{FF2B5EF4-FFF2-40B4-BE49-F238E27FC236}">
                <a16:creationId xmlns:a16="http://schemas.microsoft.com/office/drawing/2014/main" id="{459FCE28-3F06-6D8F-6854-24B8B32BB6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578" y="3621508"/>
            <a:ext cx="1385559" cy="1385559"/>
          </a:xfrm>
          <a:prstGeom prst="rect">
            <a:avLst/>
          </a:prstGeom>
        </p:spPr>
      </p:pic>
      <p:pic>
        <p:nvPicPr>
          <p:cNvPr id="7" name="Picture 6" descr="GitHub - tteck/Proxmox: Proxmox VE Helper-Scripts · GitHub">
            <a:extLst>
              <a:ext uri="{FF2B5EF4-FFF2-40B4-BE49-F238E27FC236}">
                <a16:creationId xmlns:a16="http://schemas.microsoft.com/office/drawing/2014/main" id="{897A21CE-79AF-2C77-EFDC-1B4A045D12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2805" y="5099384"/>
            <a:ext cx="1097104" cy="1530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7769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E6FF2E-236F-3771-FCEE-54B694A34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79 MB/s Write</a:t>
            </a:r>
            <a:br>
              <a:rPr lang="en-US" dirty="0"/>
            </a:br>
            <a:r>
              <a:rPr lang="en-US" dirty="0"/>
              <a:t>44 MB/s Read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3AF2CE-12BA-3C0E-2955-FA36D65340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Im</a:t>
            </a:r>
            <a:r>
              <a:rPr lang="en-US" dirty="0"/>
              <a:t> A-Netz </a:t>
            </a:r>
            <a:r>
              <a:rPr lang="en-US" dirty="0" err="1"/>
              <a:t>gemessen</a:t>
            </a:r>
            <a:endParaRPr lang="en-US" dirty="0"/>
          </a:p>
          <a:p>
            <a:r>
              <a:rPr lang="en-US" dirty="0"/>
              <a:t>Switch hat 100 MB/s</a:t>
            </a:r>
          </a:p>
          <a:p>
            <a:r>
              <a:rPr lang="en-US" dirty="0"/>
              <a:t>dd if=/dev/zero of=</a:t>
            </a:r>
            <a:r>
              <a:rPr lang="en-US" dirty="0" err="1"/>
              <a:t>testdatei</a:t>
            </a:r>
            <a:r>
              <a:rPr lang="en-US" dirty="0"/>
              <a:t> bs=1M count=1024 conv=</a:t>
            </a:r>
            <a:r>
              <a:rPr lang="en-US" dirty="0" err="1"/>
              <a:t>fdatasync</a:t>
            </a:r>
            <a:r>
              <a:rPr lang="en-US" dirty="0"/>
              <a:t> status=progress</a:t>
            </a:r>
          </a:p>
          <a:p>
            <a:r>
              <a:rPr lang="en-US" dirty="0"/>
              <a:t>dd if=</a:t>
            </a:r>
            <a:r>
              <a:rPr lang="en-US" dirty="0" err="1"/>
              <a:t>testdatei</a:t>
            </a:r>
            <a:r>
              <a:rPr lang="en-US" dirty="0"/>
              <a:t> of=/dev/null bs=1M status=progress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BDED7D-0DCF-8C4D-542B-17626248F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180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C4FB7E-715D-87F1-6586-F5BBC5195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Quellen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01A765C-80C2-E9FC-B3D6-742CE8DA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sz="2400" b="1" dirty="0">
              <a:latin typeface="Helvetica" pitchFamily="2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source-price-0">
            <a:extLst>
              <a:ext uri="{FF2B5EF4-FFF2-40B4-BE49-F238E27FC236}">
                <a16:creationId xmlns:a16="http://schemas.microsoft.com/office/drawing/2014/main" id="{BF75219D-C1D6-BC05-9F5B-0ECC2F8CCFD0}"/>
              </a:ext>
            </a:extLst>
          </p:cNvPr>
          <p:cNvSpPr>
            <a:spLocks noGrp="1"/>
          </p:cNvSpPr>
          <p:nvPr/>
        </p:nvSpPr>
        <p:spPr>
          <a:xfrm>
            <a:off x="320559" y="2675255"/>
            <a:ext cx="55626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 algn="l">
              <a:buNone/>
              <a:def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dirty="0">
                <a:solidFill>
                  <a:srgbClr val="183044"/>
                </a:solidFill>
                <a:latin typeface="DejaVu Sans"/>
                <a:ea typeface="DejaVu Sans"/>
                <a:cs typeface="DejaVu Sans"/>
                <a:hlinkClick r:id="rId2"/>
              </a:rPr>
              <a:t>Geizhals: Synology DS223j</a:t>
            </a:r>
          </a:p>
        </p:txBody>
      </p:sp>
      <p:sp>
        <p:nvSpPr>
          <p:cNvPr id="7" name="source-price-1">
            <a:extLst>
              <a:ext uri="{FF2B5EF4-FFF2-40B4-BE49-F238E27FC236}">
                <a16:creationId xmlns:a16="http://schemas.microsoft.com/office/drawing/2014/main" id="{26F963B6-D2BC-F51B-B1DE-2226DB8C36E6}"/>
              </a:ext>
            </a:extLst>
          </p:cNvPr>
          <p:cNvSpPr>
            <a:spLocks noGrp="1"/>
          </p:cNvSpPr>
          <p:nvPr/>
        </p:nvSpPr>
        <p:spPr>
          <a:xfrm>
            <a:off x="320559" y="3103880"/>
            <a:ext cx="55626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 algn="l">
              <a:buNone/>
              <a:def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  <a:hlinkClick r:id="rId3"/>
              </a:rPr>
              <a:t>Geizhals: WD Red Plus 2 TB</a:t>
            </a:r>
          </a:p>
        </p:txBody>
      </p:sp>
      <p:sp>
        <p:nvSpPr>
          <p:cNvPr id="8" name="source-price-2">
            <a:extLst>
              <a:ext uri="{FF2B5EF4-FFF2-40B4-BE49-F238E27FC236}">
                <a16:creationId xmlns:a16="http://schemas.microsoft.com/office/drawing/2014/main" id="{C347B6E0-274A-5C73-E1BF-A9BE537298C1}"/>
              </a:ext>
            </a:extLst>
          </p:cNvPr>
          <p:cNvSpPr>
            <a:spLocks noGrp="1"/>
          </p:cNvSpPr>
          <p:nvPr/>
        </p:nvSpPr>
        <p:spPr>
          <a:xfrm>
            <a:off x="320559" y="3532505"/>
            <a:ext cx="55626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 algn="l">
              <a:buNone/>
              <a:def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  <a:hlinkClick r:id="rId4"/>
              </a:rPr>
              <a:t>Willhaben: Vergleichs-PC für 50 €</a:t>
            </a:r>
          </a:p>
        </p:txBody>
      </p:sp>
      <p:sp>
        <p:nvSpPr>
          <p:cNvPr id="9" name="source-price-3">
            <a:extLst>
              <a:ext uri="{FF2B5EF4-FFF2-40B4-BE49-F238E27FC236}">
                <a16:creationId xmlns:a16="http://schemas.microsoft.com/office/drawing/2014/main" id="{D422C624-24A6-0C09-5465-447D7F9EB3C7}"/>
              </a:ext>
            </a:extLst>
          </p:cNvPr>
          <p:cNvSpPr>
            <a:spLocks noGrp="1"/>
          </p:cNvSpPr>
          <p:nvPr/>
        </p:nvSpPr>
        <p:spPr>
          <a:xfrm>
            <a:off x="320559" y="3961130"/>
            <a:ext cx="55626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 algn="l">
              <a:buNone/>
              <a:def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  <a:hlinkClick r:id="rId5"/>
              </a:rPr>
              <a:t>Willhaben: Vergleichs-PC für 95 €</a:t>
            </a:r>
          </a:p>
        </p:txBody>
      </p:sp>
      <p:sp>
        <p:nvSpPr>
          <p:cNvPr id="10" name="source-price-4">
            <a:extLst>
              <a:ext uri="{FF2B5EF4-FFF2-40B4-BE49-F238E27FC236}">
                <a16:creationId xmlns:a16="http://schemas.microsoft.com/office/drawing/2014/main" id="{43F51ADB-BE57-3BEE-5C92-3D70DC0807A3}"/>
              </a:ext>
            </a:extLst>
          </p:cNvPr>
          <p:cNvSpPr>
            <a:spLocks noGrp="1"/>
          </p:cNvSpPr>
          <p:nvPr/>
        </p:nvSpPr>
        <p:spPr>
          <a:xfrm>
            <a:off x="320559" y="4375467"/>
            <a:ext cx="55626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 algn="l">
              <a:buNone/>
              <a:defRPr sz="1650" b="0">
                <a:solidFill>
                  <a:srgbClr val="183044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dirty="0">
                <a:solidFill>
                  <a:srgbClr val="183044"/>
                </a:solidFill>
                <a:latin typeface="DejaVu Sans"/>
                <a:ea typeface="DejaVu Sans"/>
                <a:cs typeface="DejaVu Sans"/>
                <a:hlinkClick r:id="rId6"/>
              </a:rPr>
              <a:t>eBay: gebrauchte 320-GB-Festplatten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AB3C44D-09EF-7EF5-48ED-9705FD89A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0E01E-7608-4E47-B545-5FF4C235404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646308"/>
      </p:ext>
    </p:extLst>
  </p:cSld>
  <p:clrMapOvr>
    <a:masterClrMapping/>
  </p:clrMapOvr>
</p:sld>
</file>

<file path=ppt/theme/theme1.xml><?xml version="1.0" encoding="utf-8"?>
<a:theme xmlns:a="http://schemas.openxmlformats.org/drawingml/2006/main" name="Editorial">
  <a:themeElements>
    <a:clrScheme name="Editorial">
      <a:dk1>
        <a:sysClr val="windowText" lastClr="000000"/>
      </a:dk1>
      <a:lt1>
        <a:sysClr val="window" lastClr="FFFFFF"/>
      </a:lt1>
      <a:dk2>
        <a:srgbClr val="171717"/>
      </a:dk2>
      <a:lt2>
        <a:srgbClr val="F7F6F3"/>
      </a:lt2>
      <a:accent1>
        <a:srgbClr val="C8350F"/>
      </a:accent1>
      <a:accent2>
        <a:srgbClr val="B6A992"/>
      </a:accent2>
      <a:accent3>
        <a:srgbClr val="D59A6D"/>
      </a:accent3>
      <a:accent4>
        <a:srgbClr val="C7793D"/>
      </a:accent4>
      <a:accent5>
        <a:srgbClr val="DB8464"/>
      </a:accent5>
      <a:accent6>
        <a:srgbClr val="3F7699"/>
      </a:accent6>
      <a:hlink>
        <a:srgbClr val="C8350F"/>
      </a:hlink>
      <a:folHlink>
        <a:srgbClr val="DB8464"/>
      </a:folHlink>
    </a:clrScheme>
    <a:fontScheme name="Custom 22">
      <a:majorFont>
        <a:latin typeface="Haettenschweiler"/>
        <a:ea typeface=""/>
        <a:cs typeface=""/>
      </a:majorFont>
      <a:minorFont>
        <a:latin typeface="Trade Gothic Nex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ditorial" id="{71EC1670-473B-4381-BA1C-B02CC96DD716}" vid="{C5D3EF77-ADD0-40FD-A769-C339DAE739D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Editorial</Template>
  <TotalTime>208</TotalTime>
  <Words>363</Words>
  <Application>Microsoft Macintosh PowerPoint</Application>
  <PresentationFormat>Widescreen</PresentationFormat>
  <Paragraphs>105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Arial</vt:lpstr>
      <vt:lpstr>DejaVu Sans</vt:lpstr>
      <vt:lpstr>Haettenschweiler</vt:lpstr>
      <vt:lpstr>Helvetica</vt:lpstr>
      <vt:lpstr>Trade Gothic Next Light</vt:lpstr>
      <vt:lpstr>Editorial</vt:lpstr>
      <vt:lpstr>nAS Proxmox + Truenas</vt:lpstr>
      <vt:lpstr>WAS ist ein NAS?</vt:lpstr>
      <vt:lpstr>Anforderungen / Ziele</vt:lpstr>
      <vt:lpstr>Vergleich DIY / Fertiges NAS</vt:lpstr>
      <vt:lpstr>Vergleich DIY / Fertiges NAS</vt:lpstr>
      <vt:lpstr>Unsere Hardware</vt:lpstr>
      <vt:lpstr>Aufbau Proxmox</vt:lpstr>
      <vt:lpstr>Warum Proxmox mit Truenas?</vt:lpstr>
      <vt:lpstr>Festplatten setup</vt:lpstr>
      <vt:lpstr>Truenas COnfig</vt:lpstr>
      <vt:lpstr>Services</vt:lpstr>
      <vt:lpstr>79 MB/s Write 44 MB/s Read</vt:lpstr>
      <vt:lpstr>Quellen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FRONTHALER Samuel, SchülerIn</dc:creator>
  <cp:lastModifiedBy>FRONTHALER Samuel, SchülerIn</cp:lastModifiedBy>
  <cp:revision>15</cp:revision>
  <dcterms:created xsi:type="dcterms:W3CDTF">2026-10-13T14:01:40Z</dcterms:created>
  <dcterms:modified xsi:type="dcterms:W3CDTF">2026-10-20T06:50:16Z</dcterms:modified>
</cp:coreProperties>
</file>