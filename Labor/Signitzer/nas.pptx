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CECD"/>
    <a:srgbClr val="C83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31"/>
  </p:normalViewPr>
  <p:slideViewPr>
    <p:cSldViewPr snapToGrid="0">
      <p:cViewPr>
        <p:scale>
          <a:sx n="104" d="100"/>
          <a:sy n="104" d="100"/>
        </p:scale>
        <p:origin x="2720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20EB-700D-2847-ABD6-D3193E225C1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8E073-1D8D-4141-BE1A-C4A09C782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4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B72D43-BA5D-3B49-95C6-2FCF1247D35F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660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2DD6-B2CC-064C-9293-967BC903FFD1}" type="datetime1">
              <a:rPr lang="en-US" smtClean="0"/>
              <a:t>10/13/26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E6CEDA-9C1B-F849-BFAE-AACC85909B90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785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CF3693-7618-774E-B6DA-9C00CA402439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768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912EC5-E506-F049-8311-DE699D37371C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987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FA5-E24D-0F4F-B5F8-444729A022BC}" type="datetime1">
              <a:rPr lang="en-US" smtClean="0"/>
              <a:t>10/13/26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12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ACCE7EE6-6FF0-2B4F-9155-7F8C995F609F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258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7821338-61D1-564F-9AE1-A1B11918D9D9}" type="datetime1">
              <a:rPr lang="en-US" smtClean="0"/>
              <a:t>10/13/26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390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912D8530-521E-B643-93F8-1C19DBA432E6}" type="datetime1">
              <a:rPr lang="en-US" smtClean="0"/>
              <a:t>10/13/26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011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F647C96A-2158-7F44-88D9-059819DE7C1E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87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E5816D1C-E500-004D-AB29-EC9207172E94}" type="datetime1">
              <a:rPr lang="en-US" smtClean="0"/>
              <a:t>10/13/26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336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4351F9C4-4AF2-184B-A166-05E6F8D7E559}" type="datetime1">
              <a:rPr lang="en-US" smtClean="0"/>
              <a:t>10/13/26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7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86740345-D871-F24D-8F6E-8FD689FF02DD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300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29BAFED-0987-B148-8EF6-25462DE142D8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933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A42172A-63D9-784B-8592-9795E97B9426}" type="datetime1">
              <a:rPr lang="en-US" smtClean="0"/>
              <a:t>10/13/26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173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ACC6E5A7-75EB-7C45-B4D2-719397952AC1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675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2699895-17F2-C544-8033-BCDE9615AD47}" type="datetime1">
              <a:rPr lang="en-US" smtClean="0"/>
              <a:t>10/13/26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836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B0D52B6B-FBA1-3D41-BE3F-1E681CA8245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742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B980D8-C2DB-5943-A824-F23620C3BF96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760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F93A49F-D0A5-074B-82F6-E3EB5548037F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37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1E51DE-27AC-3A47-BFDE-F1C3534E2412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100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0CA6-509B-FD4E-9501-D89A8260B11E}" type="datetime1">
              <a:rPr lang="en-US" smtClean="0"/>
              <a:t>10/13/26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874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B6994-B2A9-AD48-B10A-D87C76408019}" type="datetime1">
              <a:rPr lang="en-US" smtClean="0"/>
              <a:t>10/13/26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918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0E7A-BD02-FE4F-8CAA-CA5C95875A6E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89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7C73-D2F8-5540-BD8D-5C55E0D9E751}" type="datetime1">
              <a:rPr lang="en-US" smtClean="0"/>
              <a:t>10/13/26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23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C0B939-2593-524E-A78B-769214754612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34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8E2D1BA-CD02-6841-A0F8-609B605EE1BD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733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6415076E-E234-C14F-8A5C-1CFA8A6E30AD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0D0E01E-7608-4E47-B545-5FF4C235404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70864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hf hdr="0" ft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eizhals.at/western-digital-wd-red-plus-2tb-wd20efpx-a2961282.html" TargetMode="External"/><Relationship Id="rId2" Type="http://schemas.openxmlformats.org/officeDocument/2006/relationships/hyperlink" Target="https://geizhals.at/synology-diskstation-ds223j-a297580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bay.de/p/83311498" TargetMode="External"/><Relationship Id="rId5" Type="http://schemas.openxmlformats.org/officeDocument/2006/relationships/hyperlink" Target="https://www.willhaben.at/iad/kaufen-und-verkaufen/d/hp-compaq-elite-8300-cmt-i5-3570-8gb-ram-128-ssd-1tb-windows-10-pro-sofort-einsatzbereit-1141277814/" TargetMode="External"/><Relationship Id="rId4" Type="http://schemas.openxmlformats.org/officeDocument/2006/relationships/hyperlink" Target="https://www.willhaben.at/iad/kaufen-und-verkaufen/d/hp-compaq-pro-6300-microtower-i5-3570-8-gb-ram-ssd-hdd-174761768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6808-E4EB-766A-0193-0438C161F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758952"/>
            <a:ext cx="8379117" cy="4087368"/>
          </a:xfrm>
        </p:spPr>
        <p:txBody>
          <a:bodyPr/>
          <a:lstStyle/>
          <a:p>
            <a:r>
              <a:rPr lang="de-AT" sz="16600" noProof="0" dirty="0" err="1"/>
              <a:t>nAS</a:t>
            </a:r>
            <a:br>
              <a:rPr lang="de-AT" noProof="0" dirty="0"/>
            </a:br>
            <a:r>
              <a:rPr lang="de-AT" noProof="0" dirty="0" err="1"/>
              <a:t>Proxmox</a:t>
            </a:r>
            <a:r>
              <a:rPr lang="de-AT" noProof="0" dirty="0"/>
              <a:t> + </a:t>
            </a:r>
            <a:r>
              <a:rPr lang="de-AT" noProof="0" dirty="0" err="1"/>
              <a:t>Truenas</a:t>
            </a:r>
            <a:endParaRPr lang="de-AT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8FED8-9BAD-28F5-46EA-56CAD929B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noProof="0" dirty="0"/>
              <a:t>Samuel Fronthaler, Maximilian Glatz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79E24-BC00-9547-1994-AC5A2CFB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1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7BB94-6C0B-0068-D8BB-722CFD7A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NAS?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C7CA8-F903-8D6C-B9C8-C5B94D75D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attached storage</a:t>
            </a:r>
          </a:p>
          <a:p>
            <a:r>
              <a:rPr lang="en-US" dirty="0" err="1"/>
              <a:t>Datenserver</a:t>
            </a:r>
            <a:endParaRPr lang="en-US" dirty="0"/>
          </a:p>
          <a:p>
            <a:r>
              <a:rPr lang="en-US" dirty="0"/>
              <a:t>Backups</a:t>
            </a:r>
          </a:p>
          <a:p>
            <a:r>
              <a:rPr lang="en-US"/>
              <a:t>Raid-Systeme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0938F-136B-B9F6-54AB-E2D6EA01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2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2B2A6D-D443-64DF-A247-E4AA331B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Anforderungen / Ziele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222352-63ED-3606-B9DE-7D12CBFE3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Mehrere User mit eigenen Privaten Ordnern</a:t>
            </a:r>
          </a:p>
          <a:p>
            <a:r>
              <a:rPr lang="de-AT" noProof="0" dirty="0"/>
              <a:t>SMB Shares</a:t>
            </a:r>
          </a:p>
          <a:p>
            <a:r>
              <a:rPr lang="de-AT" noProof="0" dirty="0"/>
              <a:t>Einfache Bedienung / Wartung</a:t>
            </a:r>
          </a:p>
          <a:p>
            <a:r>
              <a:rPr lang="de-AT" noProof="0" dirty="0"/>
              <a:t>Raid 1</a:t>
            </a:r>
          </a:p>
          <a:p>
            <a:r>
              <a:rPr lang="de-AT" noProof="0" dirty="0"/>
              <a:t>Zusätzlicher Service (</a:t>
            </a:r>
            <a:r>
              <a:rPr lang="de-AT" noProof="0" dirty="0" err="1"/>
              <a:t>Jellyfin</a:t>
            </a:r>
            <a:r>
              <a:rPr lang="de-AT" noProof="0" dirty="0"/>
              <a:t>, </a:t>
            </a:r>
            <a:r>
              <a:rPr lang="de-AT" noProof="0" dirty="0" err="1"/>
              <a:t>qbittorrent</a:t>
            </a:r>
            <a:r>
              <a:rPr lang="de-AT" noProof="0" dirty="0"/>
              <a:t>)</a:t>
            </a:r>
          </a:p>
          <a:p>
            <a:endParaRPr lang="de-AT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0D2D5-FD9B-60A1-E0C0-390C58C1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5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A00B-FDB6-608D-F1CF-E2938B40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Vergleich DIY / Fertiges 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42C3-1DE0-21F2-2F0A-BFB45A81D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AT" noProof="0" dirty="0"/>
          </a:p>
          <a:p>
            <a:pPr marL="0" indent="0">
              <a:buNone/>
            </a:pPr>
            <a:endParaRPr lang="de-AT" noProof="0" dirty="0"/>
          </a:p>
          <a:p>
            <a:pPr marL="0" indent="0">
              <a:buNone/>
            </a:pPr>
            <a:endParaRPr lang="de-AT" noProof="0" dirty="0"/>
          </a:p>
          <a:p>
            <a:pPr marL="0" indent="0">
              <a:buNone/>
            </a:pPr>
            <a:endParaRPr lang="de-AT" noProof="0" dirty="0"/>
          </a:p>
          <a:p>
            <a:pPr marL="0" indent="0">
              <a:buNone/>
            </a:pPr>
            <a:endParaRPr lang="de-AT" noProof="0" dirty="0"/>
          </a:p>
          <a:p>
            <a:pPr marL="0" indent="0">
              <a:buNone/>
            </a:pPr>
            <a:endParaRPr lang="de-AT" noProof="0" dirty="0"/>
          </a:p>
          <a:p>
            <a:pPr marL="0" indent="0">
              <a:buNone/>
            </a:pPr>
            <a:endParaRPr lang="de-AT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FF9753-9D45-1782-A863-7216EDCEDF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7664924"/>
              </p:ext>
            </p:extLst>
          </p:nvPr>
        </p:nvGraphicFramePr>
        <p:xfrm>
          <a:off x="473413" y="2209800"/>
          <a:ext cx="5257800" cy="2819400"/>
        </p:xfrm>
        <a:graphic>
          <a:graphicData uri="http://schemas.openxmlformats.org/drawingml/2006/table">
            <a:tbl>
              <a:tblPr firstRow="1"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1" noProof="0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Bestandteil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>
                      <a:solidFill>
                        <a:srgbClr val="CBD8DD"/>
                      </a:solidFill>
                      <a:prstDash val="soli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C834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1" noProof="0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Preis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>
                      <a:solidFill>
                        <a:srgbClr val="CBD8DD"/>
                      </a:solidFill>
                      <a:prstDash val="soli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C83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 mit i5-3570 und 8 GB RAM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50–95 €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gebrauchte 320-GB-Platten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20–40 €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1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Grobe Vergleichssumme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EBCE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1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70–135 €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EB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8DCA3E-F2F3-6BC6-EB57-8E05B4A553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199410"/>
              </p:ext>
            </p:extLst>
          </p:nvPr>
        </p:nvGraphicFramePr>
        <p:xfrm>
          <a:off x="6316427" y="2209800"/>
          <a:ext cx="5257800" cy="2819400"/>
        </p:xfrm>
        <a:graphic>
          <a:graphicData uri="http://schemas.openxmlformats.org/drawingml/2006/table">
            <a:tbl>
              <a:tblPr firstRow="1"/>
              <a:tblGrid>
                <a:gridCol w="3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1" noProof="0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Bestandteil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>
                      <a:solidFill>
                        <a:srgbClr val="CBD8DD"/>
                      </a:solidFill>
                      <a:prstDash val="soli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C834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1" noProof="0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Preis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>
                      <a:solidFill>
                        <a:srgbClr val="CBD8DD"/>
                      </a:solidFill>
                      <a:prstDash val="soli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C83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0" noProof="0" dirty="0" err="1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Synology</a:t>
                      </a: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DS223j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194,90 €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× WD </a:t>
                      </a:r>
                      <a:r>
                        <a:rPr lang="de-AT" sz="1725" b="0" noProof="0" dirty="0" err="1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</a:t>
                      </a: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Plus 2 TB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0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304,52 €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AT" sz="1725" b="1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Summe inklusive Versand</a:t>
                      </a:r>
                    </a:p>
                  </a:txBody>
                  <a:tcPr anchor="ctr">
                    <a:lnL w="6191">
                      <a:solidFill>
                        <a:srgbClr val="CBD8DD"/>
                      </a:solidFill>
                      <a:prstDash val="soli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EBCE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AT" sz="1725" b="1" noProof="0" dirty="0">
                          <a:solidFill>
                            <a:srgbClr val="1830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499,42 €</a:t>
                      </a:r>
                    </a:p>
                  </a:txBody>
                  <a:tcPr anchor="ctr">
                    <a:lnL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CBD8DD"/>
                      </a:solidFill>
                      <a:prstDash val="solid"/>
                    </a:lnR>
                    <a:lnT w="6191" cap="flat" cmpd="sng" algn="ctr">
                      <a:solidFill>
                        <a:srgbClr val="CB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CBD8DD"/>
                      </a:solidFill>
                      <a:prstDash val="solid"/>
                    </a:lnB>
                    <a:solidFill>
                      <a:srgbClr val="EBC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7F7AE-37C5-C58C-D2EE-30858B98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2EF9-686A-A816-2764-C1690DC2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noProof="0" dirty="0"/>
              <a:t>Vergleich DIY / Fertiges NAS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00D2F1-8BDC-134F-6020-15080E4E7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789805"/>
              </p:ext>
            </p:extLst>
          </p:nvPr>
        </p:nvGraphicFramePr>
        <p:xfrm>
          <a:off x="320441" y="2353959"/>
          <a:ext cx="112537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262">
                  <a:extLst>
                    <a:ext uri="{9D8B030D-6E8A-4147-A177-3AD203B41FA5}">
                      <a16:colId xmlns:a16="http://schemas.microsoft.com/office/drawing/2014/main" val="2220963818"/>
                    </a:ext>
                  </a:extLst>
                </a:gridCol>
                <a:gridCol w="3751262">
                  <a:extLst>
                    <a:ext uri="{9D8B030D-6E8A-4147-A177-3AD203B41FA5}">
                      <a16:colId xmlns:a16="http://schemas.microsoft.com/office/drawing/2014/main" val="60858128"/>
                    </a:ext>
                  </a:extLst>
                </a:gridCol>
                <a:gridCol w="3751262">
                  <a:extLst>
                    <a:ext uri="{9D8B030D-6E8A-4147-A177-3AD203B41FA5}">
                      <a16:colId xmlns:a16="http://schemas.microsoft.com/office/drawing/2014/main" val="3121578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AT" noProof="0" dirty="0">
                        <a:solidFill>
                          <a:srgbClr val="C8340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DIY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Fertig-NAS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29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 noProof="0" dirty="0"/>
                        <a:t>Software</a:t>
                      </a:r>
                    </a:p>
                  </a:txBody>
                  <a:tcPr>
                    <a:solidFill>
                      <a:srgbClr val="EBCE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noProof="0" dirty="0" err="1"/>
                        <a:t>Proxmox</a:t>
                      </a:r>
                      <a:r>
                        <a:rPr lang="de-AT" noProof="0" dirty="0"/>
                        <a:t>, </a:t>
                      </a:r>
                      <a:r>
                        <a:rPr lang="de-AT" noProof="0" dirty="0" err="1"/>
                        <a:t>TrueNAS</a:t>
                      </a:r>
                      <a:endParaRPr lang="de-AT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Hersteller 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05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 noProof="0" dirty="0"/>
                        <a:t>Erweiterung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CPU/ RAM und Festplatten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Meist nur Festplatten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240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b="1" noProof="0" dirty="0"/>
                        <a:t>Verwaltung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Auf sich Selbst gestellt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noProof="0" dirty="0"/>
                        <a:t>Benutzerfreundlich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20934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CD264B-417B-DE0B-08DD-37A73C86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2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FD5C-2CC9-E40F-1DBA-79674ED7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Unsere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7001-984F-43CE-08E6-58D467F90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Intel Core i5-3570 (4 Kerne)</a:t>
            </a:r>
          </a:p>
          <a:p>
            <a:r>
              <a:rPr lang="de-AT" noProof="0" dirty="0"/>
              <a:t>9,6 GB RAM</a:t>
            </a:r>
          </a:p>
          <a:p>
            <a:r>
              <a:rPr lang="de-AT" noProof="0" dirty="0"/>
              <a:t>2x 320 GB HDD</a:t>
            </a:r>
          </a:p>
          <a:p>
            <a:r>
              <a:rPr lang="de-AT" noProof="0" dirty="0"/>
              <a:t>1x 250 GB HDD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9CD1E-7F34-A8CC-99A5-60FB7B16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2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EE85-F580-D829-4B13-357EF609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noProof="0" dirty="0"/>
              <a:t>Aufbau </a:t>
            </a:r>
            <a:r>
              <a:rPr lang="de-AT" noProof="0" dirty="0" err="1"/>
              <a:t>Proxmox</a:t>
            </a:r>
            <a:endParaRPr lang="de-AT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C3FBCA-B9AA-39A1-93A4-B4069BD50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CPU, RAM und 250GB HDD werden aufgeteilt</a:t>
            </a:r>
          </a:p>
          <a:p>
            <a:r>
              <a:rPr lang="de-AT" noProof="0" dirty="0"/>
              <a:t>2x 320GB HDD als Speicher mit konfigurierbaren Zugriff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03CA70-F74F-8140-D487-51FAE417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520" y="1834524"/>
            <a:ext cx="6299030" cy="5023476"/>
          </a:xfrm>
          <a:prstGeom prst="rect">
            <a:avLst/>
          </a:prstGeom>
          <a:noFill/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75CBD0-577C-E52B-9189-523FF9053A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4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223F16-287D-411A-C8CD-B223D8AA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Warum </a:t>
            </a:r>
            <a:r>
              <a:rPr lang="de-AT" noProof="0" dirty="0" err="1"/>
              <a:t>Proxmox</a:t>
            </a:r>
            <a:r>
              <a:rPr lang="de-AT" noProof="0" dirty="0"/>
              <a:t> mit </a:t>
            </a:r>
            <a:r>
              <a:rPr lang="de-AT" noProof="0" dirty="0" err="1"/>
              <a:t>Truenas</a:t>
            </a:r>
            <a:r>
              <a:rPr lang="de-AT" noProof="0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5BCF1-EAD7-301E-60E9-215796AA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 err="1"/>
              <a:t>Proxmox</a:t>
            </a:r>
            <a:r>
              <a:rPr lang="de-AT" noProof="0" dirty="0"/>
              <a:t> wegen Kenntnissen vom eigenen Serverbau</a:t>
            </a:r>
          </a:p>
          <a:p>
            <a:r>
              <a:rPr lang="de-AT" noProof="0" dirty="0"/>
              <a:t>Zusätzliche Services mit Helper Scripts einfach installierbar</a:t>
            </a:r>
          </a:p>
          <a:p>
            <a:r>
              <a:rPr lang="de-AT" noProof="0" dirty="0"/>
              <a:t>Services sind Leicht trennbar</a:t>
            </a:r>
          </a:p>
          <a:p>
            <a:r>
              <a:rPr lang="de-AT" noProof="0" dirty="0" err="1"/>
              <a:t>TrueNAS</a:t>
            </a:r>
            <a:r>
              <a:rPr lang="de-AT" noProof="0" dirty="0"/>
              <a:t> hat eine schöne Oberfläche und ist einfach konfigurierbar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1AFFF-5229-F451-61F1-887D21EF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5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61DF-3FC1-44F2-6593-9C30C429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Festplatten </a:t>
            </a:r>
            <a:r>
              <a:rPr lang="de-AT" noProof="0" dirty="0" err="1"/>
              <a:t>setup</a:t>
            </a:r>
            <a:endParaRPr lang="de-AT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0929-008A-B2F3-DBCF-31456F2A6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Alle Festplatten zuerst </a:t>
            </a:r>
            <a:r>
              <a:rPr lang="de-AT" noProof="0" dirty="0" err="1"/>
              <a:t>gewiped</a:t>
            </a:r>
            <a:endParaRPr lang="de-AT" noProof="0" dirty="0"/>
          </a:p>
          <a:p>
            <a:r>
              <a:rPr lang="de-AT" noProof="0" dirty="0" err="1"/>
              <a:t>Proxmox</a:t>
            </a:r>
            <a:r>
              <a:rPr lang="de-AT" noProof="0" dirty="0"/>
              <a:t> mit anderen Services auf einer 250GB HDD</a:t>
            </a:r>
          </a:p>
          <a:p>
            <a:r>
              <a:rPr lang="de-AT" noProof="0" dirty="0"/>
              <a:t>Raid 1 mit 2x 320GB HDD</a:t>
            </a:r>
          </a:p>
          <a:p>
            <a:endParaRPr lang="de-A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E097A-6A4C-C7FD-0B8F-7D7AD284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23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43F5-C69B-793B-9C6A-83C1F082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 err="1"/>
              <a:t>Truenas</a:t>
            </a:r>
            <a:r>
              <a:rPr lang="de-AT" noProof="0" dirty="0"/>
              <a:t> </a:t>
            </a:r>
            <a:r>
              <a:rPr lang="de-AT" noProof="0" dirty="0" err="1"/>
              <a:t>COnfig</a:t>
            </a:r>
            <a:endParaRPr lang="de-AT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1DA4-EB64-9E64-4B8F-C7AD9A563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ZFS Pool (2x320GB HDD)</a:t>
            </a:r>
          </a:p>
          <a:p>
            <a:r>
              <a:rPr lang="de-AT" noProof="0" dirty="0"/>
              <a:t>Eigene Datasets jeweils für Fronthaler, Glatz, </a:t>
            </a:r>
            <a:r>
              <a:rPr lang="de-AT" noProof="0" dirty="0" err="1"/>
              <a:t>Signitzer</a:t>
            </a:r>
            <a:endParaRPr lang="de-AT" noProof="0" dirty="0"/>
          </a:p>
          <a:p>
            <a:r>
              <a:rPr lang="de-AT" noProof="0" dirty="0" err="1"/>
              <a:t>Shared</a:t>
            </a:r>
            <a:r>
              <a:rPr lang="de-AT" noProof="0" dirty="0"/>
              <a:t> Dataset für alle</a:t>
            </a:r>
          </a:p>
          <a:p>
            <a:r>
              <a:rPr lang="de-AT" noProof="0" dirty="0"/>
              <a:t>SMB und NFS Share (/</a:t>
            </a:r>
            <a:r>
              <a:rPr lang="de-AT" noProof="0" dirty="0" err="1"/>
              <a:t>mnt</a:t>
            </a:r>
            <a:r>
              <a:rPr lang="de-AT" noProof="0" dirty="0"/>
              <a:t>/DATA/…) eingerichtet</a:t>
            </a:r>
          </a:p>
          <a:p>
            <a:pPr lvl="1"/>
            <a:endParaRPr lang="de-AT" noProof="0" dirty="0"/>
          </a:p>
          <a:p>
            <a:endParaRPr lang="de-AT" noProof="0" dirty="0"/>
          </a:p>
          <a:p>
            <a:endParaRPr lang="de-AT" noProof="0" dirty="0"/>
          </a:p>
          <a:p>
            <a:endParaRPr lang="de-A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87626-8F8F-0CF7-FEB9-783E0646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2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C372-F4F4-7A48-C4F2-7B5F5366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 dirty="0"/>
              <a:t>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E924-E1ED-52CE-B3E9-DA9A879DC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 err="1"/>
              <a:t>Jellyfin</a:t>
            </a:r>
            <a:r>
              <a:rPr lang="de-AT" noProof="0" dirty="0"/>
              <a:t> </a:t>
            </a:r>
          </a:p>
          <a:p>
            <a:pPr lvl="1"/>
            <a:r>
              <a:rPr lang="de-AT" noProof="0" dirty="0" err="1"/>
              <a:t>Unpriviledged</a:t>
            </a:r>
            <a:r>
              <a:rPr lang="de-AT" noProof="0" dirty="0"/>
              <a:t> LXC </a:t>
            </a:r>
            <a:r>
              <a:rPr lang="de-AT" noProof="0" dirty="0" err="1"/>
              <a:t>container</a:t>
            </a:r>
            <a:endParaRPr lang="de-AT" noProof="0" dirty="0"/>
          </a:p>
          <a:p>
            <a:pPr lvl="1"/>
            <a:r>
              <a:rPr lang="de-AT" noProof="0" dirty="0"/>
              <a:t>Um auf die Festplatten zugreifen zu können braucht es extra Zugriffsrechte</a:t>
            </a:r>
          </a:p>
          <a:p>
            <a:pPr marL="457200" lvl="1" indent="0">
              <a:buNone/>
            </a:pPr>
            <a:endParaRPr lang="de-AT" noProof="0" dirty="0"/>
          </a:p>
          <a:p>
            <a:r>
              <a:rPr lang="de-AT" noProof="0" dirty="0" err="1"/>
              <a:t>qBittorrent</a:t>
            </a:r>
            <a:endParaRPr lang="de-AT" noProof="0" dirty="0"/>
          </a:p>
          <a:p>
            <a:pPr lvl="1"/>
            <a:r>
              <a:rPr lang="de-AT" noProof="0" dirty="0" err="1"/>
              <a:t>Unpriviledged</a:t>
            </a:r>
            <a:r>
              <a:rPr lang="de-AT" noProof="0" dirty="0"/>
              <a:t> LXC </a:t>
            </a:r>
            <a:r>
              <a:rPr lang="de-AT" noProof="0" dirty="0" err="1"/>
              <a:t>container</a:t>
            </a:r>
            <a:endParaRPr lang="de-AT" noProof="0" dirty="0"/>
          </a:p>
          <a:p>
            <a:pPr lvl="1"/>
            <a:r>
              <a:rPr lang="de-AT" noProof="0" dirty="0"/>
              <a:t>Torrenten im Schulnetz geblockt</a:t>
            </a:r>
          </a:p>
          <a:p>
            <a:pPr marL="457200" lvl="1" indent="0">
              <a:buNone/>
            </a:pPr>
            <a:endParaRPr lang="de-AT" noProof="0" dirty="0"/>
          </a:p>
          <a:p>
            <a:r>
              <a:rPr lang="de-AT" noProof="0" dirty="0"/>
              <a:t>Installiert mit Helper Scripts</a:t>
            </a:r>
          </a:p>
          <a:p>
            <a:endParaRPr lang="de-A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9164C-61EF-39D0-FC1D-32FC0014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76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E6FF2E-236F-3771-FCEE-54B694A3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79 MB/s Write</a:t>
            </a:r>
            <a:br>
              <a:rPr lang="en-US" dirty="0"/>
            </a:br>
            <a:r>
              <a:rPr lang="en-US" dirty="0"/>
              <a:t>44 MB/s Read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3AF2CE-12BA-3C0E-2955-FA36D6534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</a:t>
            </a:r>
            <a:r>
              <a:rPr lang="en-US" dirty="0"/>
              <a:t> A-Netz </a:t>
            </a:r>
            <a:r>
              <a:rPr lang="en-US" dirty="0" err="1"/>
              <a:t>gemessen</a:t>
            </a:r>
            <a:endParaRPr lang="en-US" dirty="0"/>
          </a:p>
          <a:p>
            <a:r>
              <a:rPr lang="en-US" dirty="0"/>
              <a:t>dd if=/dev/zero of=</a:t>
            </a:r>
            <a:r>
              <a:rPr lang="en-US" dirty="0" err="1"/>
              <a:t>testdatei</a:t>
            </a:r>
            <a:r>
              <a:rPr lang="en-US" dirty="0"/>
              <a:t> bs=1M count=1024 conv=</a:t>
            </a:r>
            <a:r>
              <a:rPr lang="en-US" dirty="0" err="1"/>
              <a:t>fdatasync</a:t>
            </a:r>
            <a:r>
              <a:rPr lang="en-US" dirty="0"/>
              <a:t> status=progress</a:t>
            </a:r>
          </a:p>
          <a:p>
            <a:r>
              <a:rPr lang="en-US" dirty="0"/>
              <a:t>dd if=</a:t>
            </a:r>
            <a:r>
              <a:rPr lang="en-US" dirty="0" err="1"/>
              <a:t>testdatei</a:t>
            </a:r>
            <a:r>
              <a:rPr lang="en-US" dirty="0"/>
              <a:t> of=/dev/null bs=1M status=progress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DED7D-0DCF-8C4D-542B-17626248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C4FB7E-715D-87F1-6586-F5BBC519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Quellen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1A765C-80C2-E9FC-B3D6-742CE8DA9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ource-price-0">
            <a:extLst>
              <a:ext uri="{FF2B5EF4-FFF2-40B4-BE49-F238E27FC236}">
                <a16:creationId xmlns:a16="http://schemas.microsoft.com/office/drawing/2014/main" id="{BF75219D-C1D6-BC05-9F5B-0ECC2F8CCFD0}"/>
              </a:ext>
            </a:extLst>
          </p:cNvPr>
          <p:cNvSpPr>
            <a:spLocks noGrp="1"/>
          </p:cNvSpPr>
          <p:nvPr/>
        </p:nvSpPr>
        <p:spPr>
          <a:xfrm>
            <a:off x="320559" y="2675255"/>
            <a:ext cx="556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183044"/>
                </a:solidFill>
                <a:latin typeface="DejaVu Sans"/>
                <a:ea typeface="DejaVu Sans"/>
                <a:cs typeface="DejaVu Sans"/>
                <a:hlinkClick r:id="rId2"/>
              </a:rPr>
              <a:t>Geizhals: Synology DS223j</a:t>
            </a:r>
          </a:p>
        </p:txBody>
      </p:sp>
      <p:sp>
        <p:nvSpPr>
          <p:cNvPr id="7" name="source-price-1">
            <a:extLst>
              <a:ext uri="{FF2B5EF4-FFF2-40B4-BE49-F238E27FC236}">
                <a16:creationId xmlns:a16="http://schemas.microsoft.com/office/drawing/2014/main" id="{26F963B6-D2BC-F51B-B1DE-2226DB8C36E6}"/>
              </a:ext>
            </a:extLst>
          </p:cNvPr>
          <p:cNvSpPr>
            <a:spLocks noGrp="1"/>
          </p:cNvSpPr>
          <p:nvPr/>
        </p:nvSpPr>
        <p:spPr>
          <a:xfrm>
            <a:off x="320559" y="3103880"/>
            <a:ext cx="556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  <a:hlinkClick r:id="rId3"/>
              </a:rPr>
              <a:t>Geizhals: WD Red Plus 2 TB</a:t>
            </a:r>
          </a:p>
        </p:txBody>
      </p:sp>
      <p:sp>
        <p:nvSpPr>
          <p:cNvPr id="8" name="source-price-2">
            <a:extLst>
              <a:ext uri="{FF2B5EF4-FFF2-40B4-BE49-F238E27FC236}">
                <a16:creationId xmlns:a16="http://schemas.microsoft.com/office/drawing/2014/main" id="{C347B6E0-274A-5C73-E1BF-A9BE537298C1}"/>
              </a:ext>
            </a:extLst>
          </p:cNvPr>
          <p:cNvSpPr>
            <a:spLocks noGrp="1"/>
          </p:cNvSpPr>
          <p:nvPr/>
        </p:nvSpPr>
        <p:spPr>
          <a:xfrm>
            <a:off x="320559" y="3532505"/>
            <a:ext cx="556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  <a:hlinkClick r:id="rId4"/>
              </a:rPr>
              <a:t>Willhaben: Vergleichs-PC für 50 €</a:t>
            </a:r>
          </a:p>
        </p:txBody>
      </p:sp>
      <p:sp>
        <p:nvSpPr>
          <p:cNvPr id="9" name="source-price-3">
            <a:extLst>
              <a:ext uri="{FF2B5EF4-FFF2-40B4-BE49-F238E27FC236}">
                <a16:creationId xmlns:a16="http://schemas.microsoft.com/office/drawing/2014/main" id="{D422C624-24A6-0C09-5465-447D7F9EB3C7}"/>
              </a:ext>
            </a:extLst>
          </p:cNvPr>
          <p:cNvSpPr>
            <a:spLocks noGrp="1"/>
          </p:cNvSpPr>
          <p:nvPr/>
        </p:nvSpPr>
        <p:spPr>
          <a:xfrm>
            <a:off x="320559" y="3961130"/>
            <a:ext cx="556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  <a:hlinkClick r:id="rId5"/>
              </a:rPr>
              <a:t>Willhaben: Vergleichs-PC für 95 €</a:t>
            </a:r>
          </a:p>
        </p:txBody>
      </p:sp>
      <p:sp>
        <p:nvSpPr>
          <p:cNvPr id="10" name="source-price-4">
            <a:extLst>
              <a:ext uri="{FF2B5EF4-FFF2-40B4-BE49-F238E27FC236}">
                <a16:creationId xmlns:a16="http://schemas.microsoft.com/office/drawing/2014/main" id="{43F51ADB-BE57-3BEE-5C92-3D70DC0807A3}"/>
              </a:ext>
            </a:extLst>
          </p:cNvPr>
          <p:cNvSpPr>
            <a:spLocks noGrp="1"/>
          </p:cNvSpPr>
          <p:nvPr/>
        </p:nvSpPr>
        <p:spPr>
          <a:xfrm>
            <a:off x="320559" y="4375467"/>
            <a:ext cx="55626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650" b="0">
                <a:solidFill>
                  <a:srgbClr val="18304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183044"/>
                </a:solidFill>
                <a:latin typeface="DejaVu Sans"/>
                <a:ea typeface="DejaVu Sans"/>
                <a:cs typeface="DejaVu Sans"/>
                <a:hlinkClick r:id="rId6"/>
              </a:rPr>
              <a:t>eBay: gebrauchte 320-GB-Festplatten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B3C44D-09EF-7EF5-48ED-9705FD89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0E01E-7608-4E47-B545-5FF4C23540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46308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198</TotalTime>
  <Words>357</Words>
  <Application>Microsoft Macintosh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DejaVu Sans</vt:lpstr>
      <vt:lpstr>Haettenschweiler</vt:lpstr>
      <vt:lpstr>Helvetica</vt:lpstr>
      <vt:lpstr>Trade Gothic Next Light</vt:lpstr>
      <vt:lpstr>Editorial</vt:lpstr>
      <vt:lpstr>nAS Proxmox + Truenas</vt:lpstr>
      <vt:lpstr>WAS ist ein NAS?</vt:lpstr>
      <vt:lpstr>Anforderungen / Ziele</vt:lpstr>
      <vt:lpstr>Vergleich DIY / Fertiges NAS</vt:lpstr>
      <vt:lpstr>Vergleich DIY / Fertiges NAS</vt:lpstr>
      <vt:lpstr>Unsere Hardware</vt:lpstr>
      <vt:lpstr>Aufbau Proxmox</vt:lpstr>
      <vt:lpstr>Warum Proxmox mit Truenas?</vt:lpstr>
      <vt:lpstr>Festplatten setup</vt:lpstr>
      <vt:lpstr>Truenas COnfig</vt:lpstr>
      <vt:lpstr>Services</vt:lpstr>
      <vt:lpstr>79 MB/s Write 44 MB/s Read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FRONTHALER Samuel, SchülerIn</dc:creator>
  <cp:lastModifiedBy>FRONTHALER Samuel, SchülerIn</cp:lastModifiedBy>
  <cp:revision>10</cp:revision>
  <dcterms:created xsi:type="dcterms:W3CDTF">2026-10-13T14:01:40Z</dcterms:created>
  <dcterms:modified xsi:type="dcterms:W3CDTF">2026-10-13T17:19:58Z</dcterms:modified>
</cp:coreProperties>
</file>